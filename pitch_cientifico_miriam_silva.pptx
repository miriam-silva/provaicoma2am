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Montserrat Ultra-Bold" charset="1" panose="00000900000000000000"/>
      <p:regular r:id="rId18"/>
    </p:embeddedFont>
    <p:embeddedFont>
      <p:font typeface="Montserrat Semi-Bold" charset="1" panose="00000700000000000000"/>
      <p:regular r:id="rId19"/>
    </p:embeddedFont>
    <p:embeddedFont>
      <p:font typeface="Montserrat Light" charset="1" panose="00000400000000000000"/>
      <p:regular r:id="rId20"/>
    </p:embeddedFont>
    <p:embeddedFont>
      <p:font typeface="Montserrat Bold" charset="1" panose="00000800000000000000"/>
      <p:regular r:id="rId21"/>
    </p:embeddedFont>
    <p:embeddedFont>
      <p:font typeface="Open Sans" charset="1" panose="020B0606030504020204"/>
      <p:regular r:id="rId22"/>
    </p:embeddedFont>
    <p:embeddedFont>
      <p:font typeface="Montserrat Heavy" charset="1" panose="00000A00000000000000"/>
      <p:regular r:id="rId23"/>
    </p:embeddedFont>
    <p:embeddedFont>
      <p:font typeface="Canva Sans" charset="1" panose="020B0503030501040103"/>
      <p:regular r:id="rId24"/>
    </p:embeddedFont>
    <p:embeddedFont>
      <p:font typeface="Open Sans Bold" charset="1" panose="020B080603050402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EFF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9143" y="494753"/>
            <a:ext cx="17469715" cy="8443347"/>
            <a:chOff x="0" y="0"/>
            <a:chExt cx="4601077" cy="22237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077" cy="2223762"/>
            </a:xfrm>
            <a:custGeom>
              <a:avLst/>
              <a:gdLst/>
              <a:ahLst/>
              <a:cxnLst/>
              <a:rect r="r" b="b" t="t" l="l"/>
              <a:pathLst>
                <a:path h="2223762" w="4601077">
                  <a:moveTo>
                    <a:pt x="0" y="0"/>
                  </a:moveTo>
                  <a:lnTo>
                    <a:pt x="4601077" y="0"/>
                  </a:lnTo>
                  <a:lnTo>
                    <a:pt x="4601077" y="2223762"/>
                  </a:lnTo>
                  <a:lnTo>
                    <a:pt x="0" y="2223762"/>
                  </a:lnTo>
                  <a:close/>
                </a:path>
              </a:pathLst>
            </a:custGeom>
            <a:solidFill>
              <a:srgbClr val="3C618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01077" cy="2261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328034" cy="32803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1859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5722" y="1028700"/>
            <a:ext cx="328034" cy="32803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EFFF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082745" y="1028700"/>
            <a:ext cx="328034" cy="32803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8AD3D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609767" y="1028700"/>
            <a:ext cx="328034" cy="32803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78A1C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807233" y="3016972"/>
            <a:ext cx="16595618" cy="3560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82"/>
              </a:lnSpc>
            </a:pPr>
            <a:r>
              <a:rPr lang="en-US" b="true" sz="9100" spc="-182">
                <a:solidFill>
                  <a:srgbClr val="78A1C6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COMPARAÇÃO DE MODELOS DE </a:t>
            </a:r>
            <a:r>
              <a:rPr lang="en-US" b="true" sz="9100" spc="-182">
                <a:solidFill>
                  <a:srgbClr val="78A1C6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INTELIGÊNCIA ARTIFICIAL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82745" y="6711156"/>
            <a:ext cx="14770605" cy="383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8"/>
              </a:lnSpc>
            </a:pPr>
            <a:r>
              <a:rPr lang="en-US" b="true" sz="3423" spc="-10">
                <a:solidFill>
                  <a:srgbClr val="85A2C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PA</a:t>
            </a:r>
            <a:r>
              <a:rPr lang="en-US" b="true" sz="3423" spc="-10">
                <a:solidFill>
                  <a:srgbClr val="85A2C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RA PREVISÃO DA DIREÇÃO DIÁRIA DAS AÇÕES DA IBM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09143" y="9239250"/>
            <a:ext cx="9150782" cy="390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2"/>
              </a:lnSpc>
            </a:pPr>
            <a:r>
              <a:rPr lang="en-US" sz="2498">
                <a:solidFill>
                  <a:srgbClr val="3C618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Aluna: Miriam Silva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728076" y="9278855"/>
            <a:ext cx="9150782" cy="390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22"/>
              </a:lnSpc>
            </a:pPr>
            <a:r>
              <a:rPr lang="en-US" sz="2498">
                <a:solidFill>
                  <a:srgbClr val="3C618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Professor: Victor Icoma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9143" y="496908"/>
            <a:ext cx="17469715" cy="9392845"/>
            <a:chOff x="0" y="0"/>
            <a:chExt cx="4601077" cy="24738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077" cy="2473836"/>
            </a:xfrm>
            <a:custGeom>
              <a:avLst/>
              <a:gdLst/>
              <a:ahLst/>
              <a:cxnLst/>
              <a:rect r="r" b="b" t="t" l="l"/>
              <a:pathLst>
                <a:path h="2473836" w="4601077">
                  <a:moveTo>
                    <a:pt x="0" y="0"/>
                  </a:moveTo>
                  <a:lnTo>
                    <a:pt x="4601077" y="0"/>
                  </a:lnTo>
                  <a:lnTo>
                    <a:pt x="4601077" y="2473836"/>
                  </a:lnTo>
                  <a:lnTo>
                    <a:pt x="0" y="2473836"/>
                  </a:lnTo>
                  <a:close/>
                </a:path>
              </a:pathLst>
            </a:custGeom>
            <a:gradFill rotWithShape="true">
              <a:gsLst>
                <a:gs pos="0">
                  <a:srgbClr val="ECF3FF">
                    <a:alpha val="55000"/>
                  </a:srgbClr>
                </a:gs>
                <a:gs pos="100000">
                  <a:srgbClr val="D4E2EF">
                    <a:alpha val="55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01077" cy="25119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732959" y="496908"/>
            <a:ext cx="11145899" cy="9392845"/>
            <a:chOff x="0" y="0"/>
            <a:chExt cx="1726791" cy="14551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26791" cy="1455198"/>
            </a:xfrm>
            <a:custGeom>
              <a:avLst/>
              <a:gdLst/>
              <a:ahLst/>
              <a:cxnLst/>
              <a:rect r="r" b="b" t="t" l="l"/>
              <a:pathLst>
                <a:path h="1455198" w="1726791">
                  <a:moveTo>
                    <a:pt x="0" y="0"/>
                  </a:moveTo>
                  <a:lnTo>
                    <a:pt x="1726791" y="0"/>
                  </a:lnTo>
                  <a:lnTo>
                    <a:pt x="1726791" y="1455198"/>
                  </a:lnTo>
                  <a:lnTo>
                    <a:pt x="0" y="1455198"/>
                  </a:lnTo>
                  <a:close/>
                </a:path>
              </a:pathLst>
            </a:custGeom>
            <a:blipFill>
              <a:blip r:embed="rId2"/>
              <a:stretch>
                <a:fillRect l="-6824" t="0" r="-19468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2077385" y="2775978"/>
            <a:ext cx="3977606" cy="118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7"/>
              </a:lnSpc>
            </a:pPr>
            <a:r>
              <a:rPr lang="en-US" b="true" sz="3398">
                <a:solidFill>
                  <a:srgbClr val="3C6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PROBLEMA PROPOSTO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813874" y="4423217"/>
            <a:ext cx="6755490" cy="3677788"/>
            <a:chOff x="0" y="0"/>
            <a:chExt cx="2197859" cy="11965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7859" cy="1196547"/>
            </a:xfrm>
            <a:custGeom>
              <a:avLst/>
              <a:gdLst/>
              <a:ahLst/>
              <a:cxnLst/>
              <a:rect r="r" b="b" t="t" l="l"/>
              <a:pathLst>
                <a:path h="1196547" w="2197859">
                  <a:moveTo>
                    <a:pt x="24066" y="0"/>
                  </a:moveTo>
                  <a:lnTo>
                    <a:pt x="2173793" y="0"/>
                  </a:lnTo>
                  <a:cubicBezTo>
                    <a:pt x="2180175" y="0"/>
                    <a:pt x="2186297" y="2536"/>
                    <a:pt x="2190810" y="7049"/>
                  </a:cubicBezTo>
                  <a:cubicBezTo>
                    <a:pt x="2195323" y="11562"/>
                    <a:pt x="2197859" y="17684"/>
                    <a:pt x="2197859" y="24066"/>
                  </a:cubicBezTo>
                  <a:lnTo>
                    <a:pt x="2197859" y="1172480"/>
                  </a:lnTo>
                  <a:cubicBezTo>
                    <a:pt x="2197859" y="1178863"/>
                    <a:pt x="2195323" y="1184984"/>
                    <a:pt x="2190810" y="1189498"/>
                  </a:cubicBezTo>
                  <a:cubicBezTo>
                    <a:pt x="2186297" y="1194011"/>
                    <a:pt x="2180175" y="1196547"/>
                    <a:pt x="2173793" y="1196547"/>
                  </a:cubicBezTo>
                  <a:lnTo>
                    <a:pt x="24066" y="1196547"/>
                  </a:lnTo>
                  <a:cubicBezTo>
                    <a:pt x="10775" y="1196547"/>
                    <a:pt x="0" y="1185772"/>
                    <a:pt x="0" y="1172480"/>
                  </a:cubicBezTo>
                  <a:lnTo>
                    <a:pt x="0" y="24066"/>
                  </a:lnTo>
                  <a:cubicBezTo>
                    <a:pt x="0" y="17684"/>
                    <a:pt x="2536" y="11562"/>
                    <a:pt x="7049" y="7049"/>
                  </a:cubicBezTo>
                  <a:cubicBezTo>
                    <a:pt x="11562" y="2536"/>
                    <a:pt x="17684" y="0"/>
                    <a:pt x="24066" y="0"/>
                  </a:cubicBezTo>
                  <a:close/>
                </a:path>
              </a:pathLst>
            </a:custGeom>
            <a:solidFill>
              <a:srgbClr val="3C618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97859" cy="1234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405793" y="4843521"/>
            <a:ext cx="5571652" cy="278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 </a:t>
            </a: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objetivo deste projeto é pr</a:t>
            </a:r>
            <a:r>
              <a:rPr lang="en-US" sz="2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ever se a ação da IBM irá fechar em alta ou em baixa utilizando informações históricas de variação de preço e volume negociado. O sistema poderá auxiliar investidores e analistas na identificação de tendências de curto prazo.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5400000">
            <a:off x="4612972" y="5301907"/>
            <a:ext cx="1157295" cy="6755490"/>
          </a:xfrm>
          <a:custGeom>
            <a:avLst/>
            <a:gdLst/>
            <a:ahLst/>
            <a:cxnLst/>
            <a:rect r="r" b="b" t="t" l="l"/>
            <a:pathLst>
              <a:path h="6755490" w="1157295">
                <a:moveTo>
                  <a:pt x="0" y="0"/>
                </a:moveTo>
                <a:lnTo>
                  <a:pt x="1157294" y="0"/>
                </a:lnTo>
                <a:lnTo>
                  <a:pt x="1157294" y="6755491"/>
                </a:lnTo>
                <a:lnTo>
                  <a:pt x="0" y="67554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0308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59324" y="1028700"/>
            <a:ext cx="328034" cy="32803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1859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86346" y="1028700"/>
            <a:ext cx="328034" cy="32803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C618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913368" y="1028700"/>
            <a:ext cx="328034" cy="32803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8AD3D8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440390" y="1028700"/>
            <a:ext cx="328034" cy="328034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78A1C6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9143" y="496908"/>
            <a:ext cx="17469715" cy="9392845"/>
            <a:chOff x="0" y="0"/>
            <a:chExt cx="4601077" cy="24738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077" cy="2473836"/>
            </a:xfrm>
            <a:custGeom>
              <a:avLst/>
              <a:gdLst/>
              <a:ahLst/>
              <a:cxnLst/>
              <a:rect r="r" b="b" t="t" l="l"/>
              <a:pathLst>
                <a:path h="2473836" w="4601077">
                  <a:moveTo>
                    <a:pt x="0" y="0"/>
                  </a:moveTo>
                  <a:lnTo>
                    <a:pt x="4601077" y="0"/>
                  </a:lnTo>
                  <a:lnTo>
                    <a:pt x="4601077" y="2473836"/>
                  </a:lnTo>
                  <a:lnTo>
                    <a:pt x="0" y="2473836"/>
                  </a:lnTo>
                  <a:close/>
                </a:path>
              </a:pathLst>
            </a:custGeom>
            <a:gradFill rotWithShape="true">
              <a:gsLst>
                <a:gs pos="0">
                  <a:srgbClr val="ECF3FF">
                    <a:alpha val="55000"/>
                  </a:srgbClr>
                </a:gs>
                <a:gs pos="100000">
                  <a:srgbClr val="D4E2EF">
                    <a:alpha val="55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01077" cy="25119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732959" y="496908"/>
            <a:ext cx="11145899" cy="9392845"/>
            <a:chOff x="0" y="0"/>
            <a:chExt cx="1726791" cy="14551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26791" cy="1455198"/>
            </a:xfrm>
            <a:custGeom>
              <a:avLst/>
              <a:gdLst/>
              <a:ahLst/>
              <a:cxnLst/>
              <a:rect r="r" b="b" t="t" l="l"/>
              <a:pathLst>
                <a:path h="1455198" w="1726791">
                  <a:moveTo>
                    <a:pt x="0" y="0"/>
                  </a:moveTo>
                  <a:lnTo>
                    <a:pt x="1726791" y="0"/>
                  </a:lnTo>
                  <a:lnTo>
                    <a:pt x="1726791" y="1455198"/>
                  </a:lnTo>
                  <a:lnTo>
                    <a:pt x="0" y="1455198"/>
                  </a:lnTo>
                  <a:close/>
                </a:path>
              </a:pathLst>
            </a:custGeom>
            <a:blipFill>
              <a:blip r:embed="rId2"/>
              <a:stretch>
                <a:fillRect l="0" t="0" r="-46199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813874" y="4423217"/>
            <a:ext cx="7537687" cy="4835083"/>
            <a:chOff x="0" y="0"/>
            <a:chExt cx="2452342" cy="157306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52342" cy="1573066"/>
            </a:xfrm>
            <a:custGeom>
              <a:avLst/>
              <a:gdLst/>
              <a:ahLst/>
              <a:cxnLst/>
              <a:rect r="r" b="b" t="t" l="l"/>
              <a:pathLst>
                <a:path h="1573066" w="2452342">
                  <a:moveTo>
                    <a:pt x="21569" y="0"/>
                  </a:moveTo>
                  <a:lnTo>
                    <a:pt x="2430773" y="0"/>
                  </a:lnTo>
                  <a:cubicBezTo>
                    <a:pt x="2442685" y="0"/>
                    <a:pt x="2452342" y="9657"/>
                    <a:pt x="2452342" y="21569"/>
                  </a:cubicBezTo>
                  <a:lnTo>
                    <a:pt x="2452342" y="1551497"/>
                  </a:lnTo>
                  <a:cubicBezTo>
                    <a:pt x="2452342" y="1563409"/>
                    <a:pt x="2442685" y="1573066"/>
                    <a:pt x="2430773" y="1573066"/>
                  </a:cubicBezTo>
                  <a:lnTo>
                    <a:pt x="21569" y="1573066"/>
                  </a:lnTo>
                  <a:cubicBezTo>
                    <a:pt x="9657" y="1573066"/>
                    <a:pt x="0" y="1563409"/>
                    <a:pt x="0" y="1551497"/>
                  </a:cubicBezTo>
                  <a:lnTo>
                    <a:pt x="0" y="21569"/>
                  </a:lnTo>
                  <a:cubicBezTo>
                    <a:pt x="0" y="9657"/>
                    <a:pt x="9657" y="0"/>
                    <a:pt x="21569" y="0"/>
                  </a:cubicBezTo>
                  <a:close/>
                </a:path>
              </a:pathLst>
            </a:custGeom>
            <a:solidFill>
              <a:srgbClr val="3C618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452342" cy="1611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5400000">
            <a:off x="5004070" y="6068104"/>
            <a:ext cx="1157295" cy="7537687"/>
          </a:xfrm>
          <a:custGeom>
            <a:avLst/>
            <a:gdLst/>
            <a:ahLst/>
            <a:cxnLst/>
            <a:rect r="r" b="b" t="t" l="l"/>
            <a:pathLst>
              <a:path h="7537687" w="1157295">
                <a:moveTo>
                  <a:pt x="0" y="0"/>
                </a:moveTo>
                <a:lnTo>
                  <a:pt x="1157295" y="0"/>
                </a:lnTo>
                <a:lnTo>
                  <a:pt x="1157295" y="7537687"/>
                </a:lnTo>
                <a:lnTo>
                  <a:pt x="0" y="75376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1185" t="0" r="-5789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59324" y="1028700"/>
            <a:ext cx="328034" cy="32803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1859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86346" y="1028700"/>
            <a:ext cx="328034" cy="32803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C618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913368" y="1028700"/>
            <a:ext cx="328034" cy="32803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8AD3D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440390" y="1028700"/>
            <a:ext cx="328034" cy="328034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78A1C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074279" y="2799681"/>
            <a:ext cx="3977606" cy="128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7"/>
              </a:lnSpc>
            </a:pPr>
            <a:r>
              <a:rPr lang="en-US" b="true" sz="3698">
                <a:solidFill>
                  <a:srgbClr val="3C6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PREPARAÇÃO DOS DADOS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74279" y="4712956"/>
            <a:ext cx="7277282" cy="407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Dados c</a:t>
            </a: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oletados pela API Alpha Vantag</a:t>
            </a: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Criação da variável alvo:</a:t>
            </a:r>
          </a:p>
          <a:p>
            <a:pPr algn="l" marL="1079499" indent="-359833" lvl="2">
              <a:lnSpc>
                <a:spcPts val="4649"/>
              </a:lnSpc>
              <a:buFont typeface="Arial"/>
              <a:buChar char="⚬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 = fechamento maior que abertura.</a:t>
            </a:r>
          </a:p>
          <a:p>
            <a:pPr algn="l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 = fechamento menor ou igual à abertura.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Criação de atributos históricos (lags).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Aplicação de logaritmo no volume.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Remoção de valores nulos.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Remoção de outliers.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9143" y="377695"/>
            <a:ext cx="17469715" cy="9512059"/>
            <a:chOff x="0" y="0"/>
            <a:chExt cx="4601077" cy="25052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077" cy="2505234"/>
            </a:xfrm>
            <a:custGeom>
              <a:avLst/>
              <a:gdLst/>
              <a:ahLst/>
              <a:cxnLst/>
              <a:rect r="r" b="b" t="t" l="l"/>
              <a:pathLst>
                <a:path h="2505234" w="4601077">
                  <a:moveTo>
                    <a:pt x="0" y="0"/>
                  </a:moveTo>
                  <a:lnTo>
                    <a:pt x="4601077" y="0"/>
                  </a:lnTo>
                  <a:lnTo>
                    <a:pt x="4601077" y="2505234"/>
                  </a:lnTo>
                  <a:lnTo>
                    <a:pt x="0" y="2505234"/>
                  </a:lnTo>
                  <a:close/>
                </a:path>
              </a:pathLst>
            </a:custGeom>
            <a:gradFill rotWithShape="true">
              <a:gsLst>
                <a:gs pos="0">
                  <a:srgbClr val="ECF3FF">
                    <a:alpha val="55000"/>
                  </a:srgbClr>
                </a:gs>
                <a:gs pos="100000">
                  <a:srgbClr val="D4E2EF">
                    <a:alpha val="55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01077" cy="25433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9143" y="377695"/>
            <a:ext cx="6040445" cy="9512059"/>
            <a:chOff x="0" y="0"/>
            <a:chExt cx="1590899" cy="25052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90899" cy="2505234"/>
            </a:xfrm>
            <a:custGeom>
              <a:avLst/>
              <a:gdLst/>
              <a:ahLst/>
              <a:cxnLst/>
              <a:rect r="r" b="b" t="t" l="l"/>
              <a:pathLst>
                <a:path h="2505234" w="1590899">
                  <a:moveTo>
                    <a:pt x="0" y="0"/>
                  </a:moveTo>
                  <a:lnTo>
                    <a:pt x="1590899" y="0"/>
                  </a:lnTo>
                  <a:lnTo>
                    <a:pt x="1590899" y="2505234"/>
                  </a:lnTo>
                  <a:lnTo>
                    <a:pt x="0" y="2505234"/>
                  </a:lnTo>
                  <a:close/>
                </a:path>
              </a:pathLst>
            </a:custGeom>
            <a:solidFill>
              <a:srgbClr val="E1859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90899" cy="25433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275495" y="3552683"/>
            <a:ext cx="1085615" cy="6337070"/>
          </a:xfrm>
          <a:custGeom>
            <a:avLst/>
            <a:gdLst/>
            <a:ahLst/>
            <a:cxnLst/>
            <a:rect r="r" b="b" t="t" l="l"/>
            <a:pathLst>
              <a:path h="6337070" w="1085615">
                <a:moveTo>
                  <a:pt x="0" y="0"/>
                </a:moveTo>
                <a:lnTo>
                  <a:pt x="1085615" y="0"/>
                </a:lnTo>
                <a:lnTo>
                  <a:pt x="1085615" y="6337070"/>
                </a:lnTo>
                <a:lnTo>
                  <a:pt x="0" y="63370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0308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562500" y="2053535"/>
            <a:ext cx="10321952" cy="7836219"/>
            <a:chOff x="0" y="0"/>
            <a:chExt cx="2718539" cy="20638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18539" cy="2063860"/>
            </a:xfrm>
            <a:custGeom>
              <a:avLst/>
              <a:gdLst/>
              <a:ahLst/>
              <a:cxnLst/>
              <a:rect r="r" b="b" t="t" l="l"/>
              <a:pathLst>
                <a:path h="2063860" w="2718539">
                  <a:moveTo>
                    <a:pt x="28502" y="0"/>
                  </a:moveTo>
                  <a:lnTo>
                    <a:pt x="2690037" y="0"/>
                  </a:lnTo>
                  <a:cubicBezTo>
                    <a:pt x="2705778" y="0"/>
                    <a:pt x="2718539" y="12761"/>
                    <a:pt x="2718539" y="28502"/>
                  </a:cubicBezTo>
                  <a:lnTo>
                    <a:pt x="2718539" y="2035358"/>
                  </a:lnTo>
                  <a:cubicBezTo>
                    <a:pt x="2718539" y="2051099"/>
                    <a:pt x="2705778" y="2063860"/>
                    <a:pt x="2690037" y="2063860"/>
                  </a:cubicBezTo>
                  <a:lnTo>
                    <a:pt x="28502" y="2063860"/>
                  </a:lnTo>
                  <a:cubicBezTo>
                    <a:pt x="12761" y="2063860"/>
                    <a:pt x="0" y="2051099"/>
                    <a:pt x="0" y="2035358"/>
                  </a:cubicBezTo>
                  <a:lnTo>
                    <a:pt x="0" y="28502"/>
                  </a:lnTo>
                  <a:cubicBezTo>
                    <a:pt x="0" y="12761"/>
                    <a:pt x="12761" y="0"/>
                    <a:pt x="2850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CF3FF">
                    <a:alpha val="100000"/>
                  </a:srgbClr>
                </a:gs>
                <a:gs pos="100000">
                  <a:srgbClr val="D4E2EF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718539" cy="2101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12649" y="2650657"/>
            <a:ext cx="8540161" cy="7366608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 rot="0">
            <a:off x="15118941" y="393029"/>
            <a:ext cx="1909101" cy="328034"/>
            <a:chOff x="0" y="0"/>
            <a:chExt cx="2545468" cy="437379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437379" cy="437379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8593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702696" y="0"/>
              <a:ext cx="437379" cy="437379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C6182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1405393" y="0"/>
              <a:ext cx="437379" cy="437379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8AD3D8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2108089" y="0"/>
              <a:ext cx="437379" cy="437379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78A1C6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26" id="26"/>
          <p:cNvSpPr/>
          <p:nvPr/>
        </p:nvSpPr>
        <p:spPr>
          <a:xfrm flipH="false" flipV="false" rot="0">
            <a:off x="595540" y="652296"/>
            <a:ext cx="14523401" cy="8982408"/>
          </a:xfrm>
          <a:custGeom>
            <a:avLst/>
            <a:gdLst/>
            <a:ahLst/>
            <a:cxnLst/>
            <a:rect r="r" b="b" t="t" l="l"/>
            <a:pathLst>
              <a:path h="8982408" w="14523401">
                <a:moveTo>
                  <a:pt x="0" y="0"/>
                </a:moveTo>
                <a:lnTo>
                  <a:pt x="14523401" y="0"/>
                </a:lnTo>
                <a:lnTo>
                  <a:pt x="14523401" y="8982408"/>
                </a:lnTo>
                <a:lnTo>
                  <a:pt x="0" y="89824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4383338" y="652296"/>
            <a:ext cx="2875962" cy="8982408"/>
          </a:xfrm>
          <a:custGeom>
            <a:avLst/>
            <a:gdLst/>
            <a:ahLst/>
            <a:cxnLst/>
            <a:rect r="r" b="b" t="t" l="l"/>
            <a:pathLst>
              <a:path h="8982408" w="2875962">
                <a:moveTo>
                  <a:pt x="0" y="0"/>
                </a:moveTo>
                <a:lnTo>
                  <a:pt x="2875962" y="0"/>
                </a:lnTo>
                <a:lnTo>
                  <a:pt x="2875962" y="8982408"/>
                </a:lnTo>
                <a:lnTo>
                  <a:pt x="0" y="89824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6053" r="0" b="-46053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0361110" y="1714375"/>
            <a:ext cx="6204725" cy="137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97"/>
              </a:lnSpc>
            </a:pPr>
            <a:r>
              <a:rPr lang="en-US" b="true" sz="3998">
                <a:solidFill>
                  <a:srgbClr val="3C6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ARQUITE</a:t>
            </a:r>
            <a:r>
              <a:rPr lang="en-US" b="true" sz="3998">
                <a:solidFill>
                  <a:srgbClr val="3C6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TURA GERAL DE AVALIAÇÃO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589041" y="6673593"/>
            <a:ext cx="5976794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sz="2499">
                <a:solidFill>
                  <a:srgbClr val="3C6182"/>
                </a:solidFill>
                <a:latin typeface="Open Sans"/>
                <a:ea typeface="Open Sans"/>
                <a:cs typeface="Open Sans"/>
                <a:sym typeface="Open Sans"/>
              </a:rPr>
              <a:t>Todos os algoritmo</a:t>
            </a:r>
            <a:r>
              <a:rPr lang="en-US" sz="2499">
                <a:solidFill>
                  <a:srgbClr val="3C6182"/>
                </a:solidFill>
                <a:latin typeface="Open Sans"/>
                <a:ea typeface="Open Sans"/>
                <a:cs typeface="Open Sans"/>
                <a:sym typeface="Open Sans"/>
              </a:rPr>
              <a:t>s receberam exatamente os mesmos preditores e a mesma variável alvo. O objetivo foi garantir uma comparação justa entre os modelos de aprendizagem de máquina.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9143" y="377695"/>
            <a:ext cx="17469715" cy="9512059"/>
            <a:chOff x="0" y="0"/>
            <a:chExt cx="4601077" cy="25052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077" cy="2505234"/>
            </a:xfrm>
            <a:custGeom>
              <a:avLst/>
              <a:gdLst/>
              <a:ahLst/>
              <a:cxnLst/>
              <a:rect r="r" b="b" t="t" l="l"/>
              <a:pathLst>
                <a:path h="2505234" w="4601077">
                  <a:moveTo>
                    <a:pt x="0" y="0"/>
                  </a:moveTo>
                  <a:lnTo>
                    <a:pt x="4601077" y="0"/>
                  </a:lnTo>
                  <a:lnTo>
                    <a:pt x="4601077" y="2505234"/>
                  </a:lnTo>
                  <a:lnTo>
                    <a:pt x="0" y="2505234"/>
                  </a:lnTo>
                  <a:close/>
                </a:path>
              </a:pathLst>
            </a:custGeom>
            <a:gradFill rotWithShape="true">
              <a:gsLst>
                <a:gs pos="0">
                  <a:srgbClr val="ECF3FF">
                    <a:alpha val="55000"/>
                  </a:srgbClr>
                </a:gs>
                <a:gs pos="100000">
                  <a:srgbClr val="D4E2EF">
                    <a:alpha val="55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01077" cy="25433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9143" y="377695"/>
            <a:ext cx="6040445" cy="9512059"/>
            <a:chOff x="0" y="0"/>
            <a:chExt cx="1590899" cy="25052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90899" cy="2505234"/>
            </a:xfrm>
            <a:custGeom>
              <a:avLst/>
              <a:gdLst/>
              <a:ahLst/>
              <a:cxnLst/>
              <a:rect r="r" b="b" t="t" l="l"/>
              <a:pathLst>
                <a:path h="2505234" w="1590899">
                  <a:moveTo>
                    <a:pt x="0" y="0"/>
                  </a:moveTo>
                  <a:lnTo>
                    <a:pt x="1590899" y="0"/>
                  </a:lnTo>
                  <a:lnTo>
                    <a:pt x="1590899" y="2505234"/>
                  </a:lnTo>
                  <a:lnTo>
                    <a:pt x="0" y="2505234"/>
                  </a:lnTo>
                  <a:close/>
                </a:path>
              </a:pathLst>
            </a:custGeom>
            <a:solidFill>
              <a:srgbClr val="E1859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90899" cy="25433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275495" y="3552683"/>
            <a:ext cx="1085615" cy="6337070"/>
          </a:xfrm>
          <a:custGeom>
            <a:avLst/>
            <a:gdLst/>
            <a:ahLst/>
            <a:cxnLst/>
            <a:rect r="r" b="b" t="t" l="l"/>
            <a:pathLst>
              <a:path h="6337070" w="1085615">
                <a:moveTo>
                  <a:pt x="0" y="0"/>
                </a:moveTo>
                <a:lnTo>
                  <a:pt x="1085615" y="0"/>
                </a:lnTo>
                <a:lnTo>
                  <a:pt x="1085615" y="6337070"/>
                </a:lnTo>
                <a:lnTo>
                  <a:pt x="0" y="63370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0308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562500" y="2053535"/>
            <a:ext cx="10321952" cy="7836219"/>
            <a:chOff x="0" y="0"/>
            <a:chExt cx="2718539" cy="20638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18539" cy="2063860"/>
            </a:xfrm>
            <a:custGeom>
              <a:avLst/>
              <a:gdLst/>
              <a:ahLst/>
              <a:cxnLst/>
              <a:rect r="r" b="b" t="t" l="l"/>
              <a:pathLst>
                <a:path h="2063860" w="2718539">
                  <a:moveTo>
                    <a:pt x="28502" y="0"/>
                  </a:moveTo>
                  <a:lnTo>
                    <a:pt x="2690037" y="0"/>
                  </a:lnTo>
                  <a:cubicBezTo>
                    <a:pt x="2705778" y="0"/>
                    <a:pt x="2718539" y="12761"/>
                    <a:pt x="2718539" y="28502"/>
                  </a:cubicBezTo>
                  <a:lnTo>
                    <a:pt x="2718539" y="2035358"/>
                  </a:lnTo>
                  <a:cubicBezTo>
                    <a:pt x="2718539" y="2051099"/>
                    <a:pt x="2705778" y="2063860"/>
                    <a:pt x="2690037" y="2063860"/>
                  </a:cubicBezTo>
                  <a:lnTo>
                    <a:pt x="28502" y="2063860"/>
                  </a:lnTo>
                  <a:cubicBezTo>
                    <a:pt x="12761" y="2063860"/>
                    <a:pt x="0" y="2051099"/>
                    <a:pt x="0" y="2035358"/>
                  </a:cubicBezTo>
                  <a:lnTo>
                    <a:pt x="0" y="28502"/>
                  </a:lnTo>
                  <a:cubicBezTo>
                    <a:pt x="0" y="12761"/>
                    <a:pt x="12761" y="0"/>
                    <a:pt x="2850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CF3FF">
                    <a:alpha val="100000"/>
                  </a:srgbClr>
                </a:gs>
                <a:gs pos="100000">
                  <a:srgbClr val="D4E2EF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718539" cy="2101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118941" y="393029"/>
            <a:ext cx="1909101" cy="328034"/>
            <a:chOff x="0" y="0"/>
            <a:chExt cx="2545468" cy="437379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437379" cy="437379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8593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702696" y="0"/>
              <a:ext cx="437379" cy="437379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C6182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405393" y="0"/>
              <a:ext cx="437379" cy="437379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8AD3D8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2108089" y="0"/>
              <a:ext cx="437379" cy="437379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78A1C6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25" id="25"/>
          <p:cNvSpPr/>
          <p:nvPr/>
        </p:nvSpPr>
        <p:spPr>
          <a:xfrm flipH="false" flipV="false" rot="0">
            <a:off x="14693116" y="1265779"/>
            <a:ext cx="2875962" cy="7735889"/>
          </a:xfrm>
          <a:custGeom>
            <a:avLst/>
            <a:gdLst/>
            <a:ahLst/>
            <a:cxnLst/>
            <a:rect r="r" b="b" t="t" l="l"/>
            <a:pathLst>
              <a:path h="7735889" w="2875962">
                <a:moveTo>
                  <a:pt x="0" y="0"/>
                </a:moveTo>
                <a:lnTo>
                  <a:pt x="2875963" y="0"/>
                </a:lnTo>
                <a:lnTo>
                  <a:pt x="2875963" y="7735890"/>
                </a:lnTo>
                <a:lnTo>
                  <a:pt x="0" y="77358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5332" r="0" b="-57728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5400000">
            <a:off x="7706019" y="-5721318"/>
            <a:ext cx="2875962" cy="16850157"/>
          </a:xfrm>
          <a:custGeom>
            <a:avLst/>
            <a:gdLst/>
            <a:ahLst/>
            <a:cxnLst/>
            <a:rect r="r" b="b" t="t" l="l"/>
            <a:pathLst>
              <a:path h="16850157" w="2875962">
                <a:moveTo>
                  <a:pt x="0" y="0"/>
                </a:moveTo>
                <a:lnTo>
                  <a:pt x="2875962" y="0"/>
                </a:lnTo>
                <a:lnTo>
                  <a:pt x="2875962" y="16850157"/>
                </a:lnTo>
                <a:lnTo>
                  <a:pt x="0" y="168501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219" t="0" r="-14219" b="-31531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718921" y="2038792"/>
            <a:ext cx="15937863" cy="6915592"/>
          </a:xfrm>
          <a:custGeom>
            <a:avLst/>
            <a:gdLst/>
            <a:ahLst/>
            <a:cxnLst/>
            <a:rect r="r" b="b" t="t" l="l"/>
            <a:pathLst>
              <a:path h="6915592" w="15937863">
                <a:moveTo>
                  <a:pt x="0" y="0"/>
                </a:moveTo>
                <a:lnTo>
                  <a:pt x="15937863" y="0"/>
                </a:lnTo>
                <a:lnTo>
                  <a:pt x="15937863" y="6915592"/>
                </a:lnTo>
                <a:lnTo>
                  <a:pt x="0" y="6915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6801" t="-102472" r="-15344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0429206" y="2335436"/>
            <a:ext cx="6450139" cy="669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97"/>
              </a:lnSpc>
            </a:pPr>
            <a:r>
              <a:rPr lang="en-US" b="true" sz="3998">
                <a:solidFill>
                  <a:srgbClr val="3C6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PLA</a:t>
            </a:r>
            <a:r>
              <a:rPr lang="en-US" b="true" sz="3998">
                <a:solidFill>
                  <a:srgbClr val="3C6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NTA DECISION TREE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0510" y="3321713"/>
            <a:ext cx="6747532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sz="2499">
                <a:solidFill>
                  <a:srgbClr val="3C6182"/>
                </a:solidFill>
                <a:latin typeface="Open Sans"/>
                <a:ea typeface="Open Sans"/>
                <a:cs typeface="Open Sans"/>
                <a:sym typeface="Open Sans"/>
              </a:rPr>
              <a:t>A Árvore de Decisão utiliza regra</a:t>
            </a:r>
            <a:r>
              <a:rPr lang="en-US" sz="2499">
                <a:solidFill>
                  <a:srgbClr val="3C6182"/>
                </a:solidFill>
                <a:latin typeface="Open Sans"/>
                <a:ea typeface="Open Sans"/>
                <a:cs typeface="Open Sans"/>
                <a:sym typeface="Open Sans"/>
              </a:rPr>
              <a:t>s hierárquicas para realizar classificações. Sua principal vantagem é a interpretabilidade, permitindo visualizar facilmente o processo de tomada de decisão.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9143" y="377695"/>
            <a:ext cx="17469715" cy="9512059"/>
            <a:chOff x="0" y="0"/>
            <a:chExt cx="4601077" cy="25052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077" cy="2505234"/>
            </a:xfrm>
            <a:custGeom>
              <a:avLst/>
              <a:gdLst/>
              <a:ahLst/>
              <a:cxnLst/>
              <a:rect r="r" b="b" t="t" l="l"/>
              <a:pathLst>
                <a:path h="2505234" w="4601077">
                  <a:moveTo>
                    <a:pt x="0" y="0"/>
                  </a:moveTo>
                  <a:lnTo>
                    <a:pt x="4601077" y="0"/>
                  </a:lnTo>
                  <a:lnTo>
                    <a:pt x="4601077" y="2505234"/>
                  </a:lnTo>
                  <a:lnTo>
                    <a:pt x="0" y="2505234"/>
                  </a:lnTo>
                  <a:close/>
                </a:path>
              </a:pathLst>
            </a:custGeom>
            <a:gradFill rotWithShape="true">
              <a:gsLst>
                <a:gs pos="0">
                  <a:srgbClr val="ECF3FF">
                    <a:alpha val="55000"/>
                  </a:srgbClr>
                </a:gs>
                <a:gs pos="100000">
                  <a:srgbClr val="D4E2EF">
                    <a:alpha val="55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01077" cy="25433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9143" y="377695"/>
            <a:ext cx="6040445" cy="9512059"/>
            <a:chOff x="0" y="0"/>
            <a:chExt cx="1590899" cy="25052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90899" cy="2505234"/>
            </a:xfrm>
            <a:custGeom>
              <a:avLst/>
              <a:gdLst/>
              <a:ahLst/>
              <a:cxnLst/>
              <a:rect r="r" b="b" t="t" l="l"/>
              <a:pathLst>
                <a:path h="2505234" w="1590899">
                  <a:moveTo>
                    <a:pt x="0" y="0"/>
                  </a:moveTo>
                  <a:lnTo>
                    <a:pt x="1590899" y="0"/>
                  </a:lnTo>
                  <a:lnTo>
                    <a:pt x="1590899" y="2505234"/>
                  </a:lnTo>
                  <a:lnTo>
                    <a:pt x="0" y="2505234"/>
                  </a:lnTo>
                  <a:close/>
                </a:path>
              </a:pathLst>
            </a:custGeom>
            <a:solidFill>
              <a:srgbClr val="E1859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90899" cy="25433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275495" y="3552683"/>
            <a:ext cx="1085615" cy="6337070"/>
          </a:xfrm>
          <a:custGeom>
            <a:avLst/>
            <a:gdLst/>
            <a:ahLst/>
            <a:cxnLst/>
            <a:rect r="r" b="b" t="t" l="l"/>
            <a:pathLst>
              <a:path h="6337070" w="1085615">
                <a:moveTo>
                  <a:pt x="0" y="0"/>
                </a:moveTo>
                <a:lnTo>
                  <a:pt x="1085615" y="0"/>
                </a:lnTo>
                <a:lnTo>
                  <a:pt x="1085615" y="6337070"/>
                </a:lnTo>
                <a:lnTo>
                  <a:pt x="0" y="63370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0308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562500" y="2053535"/>
            <a:ext cx="10321952" cy="7836219"/>
            <a:chOff x="0" y="0"/>
            <a:chExt cx="2718539" cy="20638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18539" cy="2063860"/>
            </a:xfrm>
            <a:custGeom>
              <a:avLst/>
              <a:gdLst/>
              <a:ahLst/>
              <a:cxnLst/>
              <a:rect r="r" b="b" t="t" l="l"/>
              <a:pathLst>
                <a:path h="2063860" w="2718539">
                  <a:moveTo>
                    <a:pt x="28502" y="0"/>
                  </a:moveTo>
                  <a:lnTo>
                    <a:pt x="2690037" y="0"/>
                  </a:lnTo>
                  <a:cubicBezTo>
                    <a:pt x="2705778" y="0"/>
                    <a:pt x="2718539" y="12761"/>
                    <a:pt x="2718539" y="28502"/>
                  </a:cubicBezTo>
                  <a:lnTo>
                    <a:pt x="2718539" y="2035358"/>
                  </a:lnTo>
                  <a:cubicBezTo>
                    <a:pt x="2718539" y="2051099"/>
                    <a:pt x="2705778" y="2063860"/>
                    <a:pt x="2690037" y="2063860"/>
                  </a:cubicBezTo>
                  <a:lnTo>
                    <a:pt x="28502" y="2063860"/>
                  </a:lnTo>
                  <a:cubicBezTo>
                    <a:pt x="12761" y="2063860"/>
                    <a:pt x="0" y="2051099"/>
                    <a:pt x="0" y="2035358"/>
                  </a:cubicBezTo>
                  <a:lnTo>
                    <a:pt x="0" y="28502"/>
                  </a:lnTo>
                  <a:cubicBezTo>
                    <a:pt x="0" y="12761"/>
                    <a:pt x="12761" y="0"/>
                    <a:pt x="2850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CF3FF">
                    <a:alpha val="100000"/>
                  </a:srgbClr>
                </a:gs>
                <a:gs pos="100000">
                  <a:srgbClr val="D4E2EF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718539" cy="2101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118941" y="393029"/>
            <a:ext cx="1909101" cy="328034"/>
            <a:chOff x="0" y="0"/>
            <a:chExt cx="2545468" cy="437379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437379" cy="437379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8593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702696" y="0"/>
              <a:ext cx="437379" cy="437379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C6182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405393" y="0"/>
              <a:ext cx="437379" cy="437379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8AD3D8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2108089" y="0"/>
              <a:ext cx="437379" cy="437379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78A1C6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25" id="25"/>
          <p:cNvSpPr/>
          <p:nvPr/>
        </p:nvSpPr>
        <p:spPr>
          <a:xfrm flipH="false" flipV="false" rot="0">
            <a:off x="14693116" y="1265779"/>
            <a:ext cx="2875962" cy="7735889"/>
          </a:xfrm>
          <a:custGeom>
            <a:avLst/>
            <a:gdLst/>
            <a:ahLst/>
            <a:cxnLst/>
            <a:rect r="r" b="b" t="t" l="l"/>
            <a:pathLst>
              <a:path h="7735889" w="2875962">
                <a:moveTo>
                  <a:pt x="0" y="0"/>
                </a:moveTo>
                <a:lnTo>
                  <a:pt x="2875963" y="0"/>
                </a:lnTo>
                <a:lnTo>
                  <a:pt x="2875963" y="7735890"/>
                </a:lnTo>
                <a:lnTo>
                  <a:pt x="0" y="77358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5332" r="0" b="-57728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5400000">
            <a:off x="7706019" y="-5721318"/>
            <a:ext cx="2875962" cy="16850157"/>
          </a:xfrm>
          <a:custGeom>
            <a:avLst/>
            <a:gdLst/>
            <a:ahLst/>
            <a:cxnLst/>
            <a:rect r="r" b="b" t="t" l="l"/>
            <a:pathLst>
              <a:path h="16850157" w="2875962">
                <a:moveTo>
                  <a:pt x="0" y="0"/>
                </a:moveTo>
                <a:lnTo>
                  <a:pt x="2875962" y="0"/>
                </a:lnTo>
                <a:lnTo>
                  <a:pt x="2875962" y="16850157"/>
                </a:lnTo>
                <a:lnTo>
                  <a:pt x="0" y="168501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219" t="0" r="-14219" b="-31531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718921" y="2038792"/>
            <a:ext cx="15937863" cy="6915592"/>
          </a:xfrm>
          <a:custGeom>
            <a:avLst/>
            <a:gdLst/>
            <a:ahLst/>
            <a:cxnLst/>
            <a:rect r="r" b="b" t="t" l="l"/>
            <a:pathLst>
              <a:path h="6915592" w="15937863">
                <a:moveTo>
                  <a:pt x="0" y="0"/>
                </a:moveTo>
                <a:lnTo>
                  <a:pt x="15937863" y="0"/>
                </a:lnTo>
                <a:lnTo>
                  <a:pt x="15937863" y="6915592"/>
                </a:lnTo>
                <a:lnTo>
                  <a:pt x="0" y="6915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6801" t="-102472" r="-15344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718921" y="2891904"/>
            <a:ext cx="15354570" cy="6159480"/>
          </a:xfrm>
          <a:custGeom>
            <a:avLst/>
            <a:gdLst/>
            <a:ahLst/>
            <a:cxnLst/>
            <a:rect r="r" b="b" t="t" l="l"/>
            <a:pathLst>
              <a:path h="6159480" w="15354570">
                <a:moveTo>
                  <a:pt x="0" y="0"/>
                </a:moveTo>
                <a:lnTo>
                  <a:pt x="15354571" y="0"/>
                </a:lnTo>
                <a:lnTo>
                  <a:pt x="15354571" y="6159480"/>
                </a:lnTo>
                <a:lnTo>
                  <a:pt x="0" y="61594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4906" t="-126023" r="-21792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9275495" y="2335436"/>
            <a:ext cx="7603850" cy="669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97"/>
              </a:lnSpc>
            </a:pPr>
            <a:r>
              <a:rPr lang="en-US" b="true" sz="3998">
                <a:solidFill>
                  <a:srgbClr val="3C6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PLA</a:t>
            </a:r>
            <a:r>
              <a:rPr lang="en-US" b="true" sz="3998">
                <a:solidFill>
                  <a:srgbClr val="3C6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NTA RANDOM FOREST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80510" y="3321713"/>
            <a:ext cx="6747532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sz="2499">
                <a:solidFill>
                  <a:srgbClr val="3C6182"/>
                </a:solidFill>
                <a:latin typeface="Open Sans"/>
                <a:ea typeface="Open Sans"/>
                <a:cs typeface="Open Sans"/>
                <a:sym typeface="Open Sans"/>
              </a:rPr>
              <a:t>O Random Forest combina diversa</a:t>
            </a:r>
            <a:r>
              <a:rPr lang="en-US" sz="2499">
                <a:solidFill>
                  <a:srgbClr val="3C6182"/>
                </a:solidFill>
                <a:latin typeface="Open Sans"/>
                <a:ea typeface="Open Sans"/>
                <a:cs typeface="Open Sans"/>
                <a:sym typeface="Open Sans"/>
              </a:rPr>
              <a:t>s árvores de decisão para reduzir a variabilidade das previsões e aumentar a capacidade de generalização do modelo.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9143" y="377695"/>
            <a:ext cx="17469715" cy="9512059"/>
            <a:chOff x="0" y="0"/>
            <a:chExt cx="4601077" cy="25052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077" cy="2505234"/>
            </a:xfrm>
            <a:custGeom>
              <a:avLst/>
              <a:gdLst/>
              <a:ahLst/>
              <a:cxnLst/>
              <a:rect r="r" b="b" t="t" l="l"/>
              <a:pathLst>
                <a:path h="2505234" w="4601077">
                  <a:moveTo>
                    <a:pt x="0" y="0"/>
                  </a:moveTo>
                  <a:lnTo>
                    <a:pt x="4601077" y="0"/>
                  </a:lnTo>
                  <a:lnTo>
                    <a:pt x="4601077" y="2505234"/>
                  </a:lnTo>
                  <a:lnTo>
                    <a:pt x="0" y="2505234"/>
                  </a:lnTo>
                  <a:close/>
                </a:path>
              </a:pathLst>
            </a:custGeom>
            <a:gradFill rotWithShape="true">
              <a:gsLst>
                <a:gs pos="0">
                  <a:srgbClr val="ECF3FF">
                    <a:alpha val="55000"/>
                  </a:srgbClr>
                </a:gs>
                <a:gs pos="100000">
                  <a:srgbClr val="D4E2EF">
                    <a:alpha val="55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01077" cy="25433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9143" y="377695"/>
            <a:ext cx="6040445" cy="9512059"/>
            <a:chOff x="0" y="0"/>
            <a:chExt cx="1590899" cy="25052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90899" cy="2505234"/>
            </a:xfrm>
            <a:custGeom>
              <a:avLst/>
              <a:gdLst/>
              <a:ahLst/>
              <a:cxnLst/>
              <a:rect r="r" b="b" t="t" l="l"/>
              <a:pathLst>
                <a:path h="2505234" w="1590899">
                  <a:moveTo>
                    <a:pt x="0" y="0"/>
                  </a:moveTo>
                  <a:lnTo>
                    <a:pt x="1590899" y="0"/>
                  </a:lnTo>
                  <a:lnTo>
                    <a:pt x="1590899" y="2505234"/>
                  </a:lnTo>
                  <a:lnTo>
                    <a:pt x="0" y="2505234"/>
                  </a:lnTo>
                  <a:close/>
                </a:path>
              </a:pathLst>
            </a:custGeom>
            <a:solidFill>
              <a:srgbClr val="E1859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90899" cy="25433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275495" y="3552683"/>
            <a:ext cx="1085615" cy="6337070"/>
          </a:xfrm>
          <a:custGeom>
            <a:avLst/>
            <a:gdLst/>
            <a:ahLst/>
            <a:cxnLst/>
            <a:rect r="r" b="b" t="t" l="l"/>
            <a:pathLst>
              <a:path h="6337070" w="1085615">
                <a:moveTo>
                  <a:pt x="0" y="0"/>
                </a:moveTo>
                <a:lnTo>
                  <a:pt x="1085615" y="0"/>
                </a:lnTo>
                <a:lnTo>
                  <a:pt x="1085615" y="6337070"/>
                </a:lnTo>
                <a:lnTo>
                  <a:pt x="0" y="63370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0308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562500" y="2053535"/>
            <a:ext cx="10321952" cy="7836219"/>
            <a:chOff x="0" y="0"/>
            <a:chExt cx="2718539" cy="20638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18539" cy="2063860"/>
            </a:xfrm>
            <a:custGeom>
              <a:avLst/>
              <a:gdLst/>
              <a:ahLst/>
              <a:cxnLst/>
              <a:rect r="r" b="b" t="t" l="l"/>
              <a:pathLst>
                <a:path h="2063860" w="2718539">
                  <a:moveTo>
                    <a:pt x="28502" y="0"/>
                  </a:moveTo>
                  <a:lnTo>
                    <a:pt x="2690037" y="0"/>
                  </a:lnTo>
                  <a:cubicBezTo>
                    <a:pt x="2705778" y="0"/>
                    <a:pt x="2718539" y="12761"/>
                    <a:pt x="2718539" y="28502"/>
                  </a:cubicBezTo>
                  <a:lnTo>
                    <a:pt x="2718539" y="2035358"/>
                  </a:lnTo>
                  <a:cubicBezTo>
                    <a:pt x="2718539" y="2051099"/>
                    <a:pt x="2705778" y="2063860"/>
                    <a:pt x="2690037" y="2063860"/>
                  </a:cubicBezTo>
                  <a:lnTo>
                    <a:pt x="28502" y="2063860"/>
                  </a:lnTo>
                  <a:cubicBezTo>
                    <a:pt x="12761" y="2063860"/>
                    <a:pt x="0" y="2051099"/>
                    <a:pt x="0" y="2035358"/>
                  </a:cubicBezTo>
                  <a:lnTo>
                    <a:pt x="0" y="28502"/>
                  </a:lnTo>
                  <a:cubicBezTo>
                    <a:pt x="0" y="12761"/>
                    <a:pt x="12761" y="0"/>
                    <a:pt x="2850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CF3FF">
                    <a:alpha val="100000"/>
                  </a:srgbClr>
                </a:gs>
                <a:gs pos="100000">
                  <a:srgbClr val="D4E2EF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718539" cy="2101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118941" y="393029"/>
            <a:ext cx="1909101" cy="328034"/>
            <a:chOff x="0" y="0"/>
            <a:chExt cx="2545468" cy="437379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437379" cy="437379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8593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702696" y="0"/>
              <a:ext cx="437379" cy="437379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C6182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405393" y="0"/>
              <a:ext cx="437379" cy="437379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8AD3D8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2108089" y="0"/>
              <a:ext cx="437379" cy="437379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78A1C6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25" id="25"/>
          <p:cNvSpPr/>
          <p:nvPr/>
        </p:nvSpPr>
        <p:spPr>
          <a:xfrm flipH="false" flipV="false" rot="0">
            <a:off x="14693116" y="1265779"/>
            <a:ext cx="2875962" cy="7735889"/>
          </a:xfrm>
          <a:custGeom>
            <a:avLst/>
            <a:gdLst/>
            <a:ahLst/>
            <a:cxnLst/>
            <a:rect r="r" b="b" t="t" l="l"/>
            <a:pathLst>
              <a:path h="7735889" w="2875962">
                <a:moveTo>
                  <a:pt x="0" y="0"/>
                </a:moveTo>
                <a:lnTo>
                  <a:pt x="2875963" y="0"/>
                </a:lnTo>
                <a:lnTo>
                  <a:pt x="2875963" y="7735890"/>
                </a:lnTo>
                <a:lnTo>
                  <a:pt x="0" y="77358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5332" r="0" b="-57728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5400000">
            <a:off x="7706019" y="-5721318"/>
            <a:ext cx="2875962" cy="16850157"/>
          </a:xfrm>
          <a:custGeom>
            <a:avLst/>
            <a:gdLst/>
            <a:ahLst/>
            <a:cxnLst/>
            <a:rect r="r" b="b" t="t" l="l"/>
            <a:pathLst>
              <a:path h="16850157" w="2875962">
                <a:moveTo>
                  <a:pt x="0" y="0"/>
                </a:moveTo>
                <a:lnTo>
                  <a:pt x="2875962" y="0"/>
                </a:lnTo>
                <a:lnTo>
                  <a:pt x="2875962" y="16850157"/>
                </a:lnTo>
                <a:lnTo>
                  <a:pt x="0" y="168501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219" t="0" r="-14219" b="-31531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718921" y="2038792"/>
            <a:ext cx="15937863" cy="6915592"/>
          </a:xfrm>
          <a:custGeom>
            <a:avLst/>
            <a:gdLst/>
            <a:ahLst/>
            <a:cxnLst/>
            <a:rect r="r" b="b" t="t" l="l"/>
            <a:pathLst>
              <a:path h="6915592" w="15937863">
                <a:moveTo>
                  <a:pt x="0" y="0"/>
                </a:moveTo>
                <a:lnTo>
                  <a:pt x="15937863" y="0"/>
                </a:lnTo>
                <a:lnTo>
                  <a:pt x="15937863" y="6915592"/>
                </a:lnTo>
                <a:lnTo>
                  <a:pt x="0" y="6915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6801" t="-102472" r="-15344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718921" y="2208468"/>
            <a:ext cx="13573452" cy="6745916"/>
          </a:xfrm>
          <a:custGeom>
            <a:avLst/>
            <a:gdLst/>
            <a:ahLst/>
            <a:cxnLst/>
            <a:rect r="r" b="b" t="t" l="l"/>
            <a:pathLst>
              <a:path h="6745916" w="13573452">
                <a:moveTo>
                  <a:pt x="0" y="0"/>
                </a:moveTo>
                <a:lnTo>
                  <a:pt x="13573452" y="0"/>
                </a:lnTo>
                <a:lnTo>
                  <a:pt x="13573452" y="6745916"/>
                </a:lnTo>
                <a:lnTo>
                  <a:pt x="0" y="67459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4854" t="-112840" r="-36294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9275495" y="2335436"/>
            <a:ext cx="7603850" cy="669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97"/>
              </a:lnSpc>
            </a:pPr>
            <a:r>
              <a:rPr lang="en-US" b="true" sz="3998">
                <a:solidFill>
                  <a:srgbClr val="3C6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PLA</a:t>
            </a:r>
            <a:r>
              <a:rPr lang="en-US" b="true" sz="3998">
                <a:solidFill>
                  <a:srgbClr val="3C6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NTA SVM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80510" y="3321713"/>
            <a:ext cx="6747532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sz="2499">
                <a:solidFill>
                  <a:srgbClr val="3C6182"/>
                </a:solidFill>
                <a:latin typeface="Open Sans"/>
                <a:ea typeface="Open Sans"/>
                <a:cs typeface="Open Sans"/>
                <a:sym typeface="Open Sans"/>
              </a:rPr>
              <a:t>O Support Vector Machine busca encontrar um hiperplan</a:t>
            </a:r>
            <a:r>
              <a:rPr lang="en-US" sz="2499">
                <a:solidFill>
                  <a:srgbClr val="3C6182"/>
                </a:solidFill>
                <a:latin typeface="Open Sans"/>
                <a:ea typeface="Open Sans"/>
                <a:cs typeface="Open Sans"/>
                <a:sym typeface="Open Sans"/>
              </a:rPr>
              <a:t>o capaz de separar as classes com a maior margem possível.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9143" y="377695"/>
            <a:ext cx="17469715" cy="9512059"/>
            <a:chOff x="0" y="0"/>
            <a:chExt cx="4601077" cy="25052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077" cy="2505234"/>
            </a:xfrm>
            <a:custGeom>
              <a:avLst/>
              <a:gdLst/>
              <a:ahLst/>
              <a:cxnLst/>
              <a:rect r="r" b="b" t="t" l="l"/>
              <a:pathLst>
                <a:path h="2505234" w="4601077">
                  <a:moveTo>
                    <a:pt x="0" y="0"/>
                  </a:moveTo>
                  <a:lnTo>
                    <a:pt x="4601077" y="0"/>
                  </a:lnTo>
                  <a:lnTo>
                    <a:pt x="4601077" y="2505234"/>
                  </a:lnTo>
                  <a:lnTo>
                    <a:pt x="0" y="2505234"/>
                  </a:lnTo>
                  <a:close/>
                </a:path>
              </a:pathLst>
            </a:custGeom>
            <a:gradFill rotWithShape="true">
              <a:gsLst>
                <a:gs pos="0">
                  <a:srgbClr val="ECF3FF">
                    <a:alpha val="55000"/>
                  </a:srgbClr>
                </a:gs>
                <a:gs pos="100000">
                  <a:srgbClr val="D4E2EF">
                    <a:alpha val="55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01077" cy="25433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9143" y="377695"/>
            <a:ext cx="6040445" cy="9512059"/>
            <a:chOff x="0" y="0"/>
            <a:chExt cx="1590899" cy="25052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90899" cy="2505234"/>
            </a:xfrm>
            <a:custGeom>
              <a:avLst/>
              <a:gdLst/>
              <a:ahLst/>
              <a:cxnLst/>
              <a:rect r="r" b="b" t="t" l="l"/>
              <a:pathLst>
                <a:path h="2505234" w="1590899">
                  <a:moveTo>
                    <a:pt x="0" y="0"/>
                  </a:moveTo>
                  <a:lnTo>
                    <a:pt x="1590899" y="0"/>
                  </a:lnTo>
                  <a:lnTo>
                    <a:pt x="1590899" y="2505234"/>
                  </a:lnTo>
                  <a:lnTo>
                    <a:pt x="0" y="2505234"/>
                  </a:lnTo>
                  <a:close/>
                </a:path>
              </a:pathLst>
            </a:custGeom>
            <a:solidFill>
              <a:srgbClr val="E1859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90899" cy="25433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275495" y="3552683"/>
            <a:ext cx="1085615" cy="6337070"/>
          </a:xfrm>
          <a:custGeom>
            <a:avLst/>
            <a:gdLst/>
            <a:ahLst/>
            <a:cxnLst/>
            <a:rect r="r" b="b" t="t" l="l"/>
            <a:pathLst>
              <a:path h="6337070" w="1085615">
                <a:moveTo>
                  <a:pt x="0" y="0"/>
                </a:moveTo>
                <a:lnTo>
                  <a:pt x="1085615" y="0"/>
                </a:lnTo>
                <a:lnTo>
                  <a:pt x="1085615" y="6337070"/>
                </a:lnTo>
                <a:lnTo>
                  <a:pt x="0" y="63370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0308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562500" y="2053535"/>
            <a:ext cx="10321952" cy="7836219"/>
            <a:chOff x="0" y="0"/>
            <a:chExt cx="2718539" cy="20638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18539" cy="2063860"/>
            </a:xfrm>
            <a:custGeom>
              <a:avLst/>
              <a:gdLst/>
              <a:ahLst/>
              <a:cxnLst/>
              <a:rect r="r" b="b" t="t" l="l"/>
              <a:pathLst>
                <a:path h="2063860" w="2718539">
                  <a:moveTo>
                    <a:pt x="28502" y="0"/>
                  </a:moveTo>
                  <a:lnTo>
                    <a:pt x="2690037" y="0"/>
                  </a:lnTo>
                  <a:cubicBezTo>
                    <a:pt x="2705778" y="0"/>
                    <a:pt x="2718539" y="12761"/>
                    <a:pt x="2718539" y="28502"/>
                  </a:cubicBezTo>
                  <a:lnTo>
                    <a:pt x="2718539" y="2035358"/>
                  </a:lnTo>
                  <a:cubicBezTo>
                    <a:pt x="2718539" y="2051099"/>
                    <a:pt x="2705778" y="2063860"/>
                    <a:pt x="2690037" y="2063860"/>
                  </a:cubicBezTo>
                  <a:lnTo>
                    <a:pt x="28502" y="2063860"/>
                  </a:lnTo>
                  <a:cubicBezTo>
                    <a:pt x="12761" y="2063860"/>
                    <a:pt x="0" y="2051099"/>
                    <a:pt x="0" y="2035358"/>
                  </a:cubicBezTo>
                  <a:lnTo>
                    <a:pt x="0" y="28502"/>
                  </a:lnTo>
                  <a:cubicBezTo>
                    <a:pt x="0" y="12761"/>
                    <a:pt x="12761" y="0"/>
                    <a:pt x="2850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CF3FF">
                    <a:alpha val="100000"/>
                  </a:srgbClr>
                </a:gs>
                <a:gs pos="100000">
                  <a:srgbClr val="D4E2EF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718539" cy="2101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118941" y="393029"/>
            <a:ext cx="1909101" cy="328034"/>
            <a:chOff x="0" y="0"/>
            <a:chExt cx="2545468" cy="437379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437379" cy="437379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8593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702696" y="0"/>
              <a:ext cx="437379" cy="437379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C6182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405393" y="0"/>
              <a:ext cx="437379" cy="437379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8AD3D8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2108089" y="0"/>
              <a:ext cx="437379" cy="437379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78A1C6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25" id="25"/>
          <p:cNvSpPr/>
          <p:nvPr/>
        </p:nvSpPr>
        <p:spPr>
          <a:xfrm flipH="false" flipV="false" rot="0">
            <a:off x="14693116" y="1265779"/>
            <a:ext cx="2875962" cy="7735889"/>
          </a:xfrm>
          <a:custGeom>
            <a:avLst/>
            <a:gdLst/>
            <a:ahLst/>
            <a:cxnLst/>
            <a:rect r="r" b="b" t="t" l="l"/>
            <a:pathLst>
              <a:path h="7735889" w="2875962">
                <a:moveTo>
                  <a:pt x="0" y="0"/>
                </a:moveTo>
                <a:lnTo>
                  <a:pt x="2875963" y="0"/>
                </a:lnTo>
                <a:lnTo>
                  <a:pt x="2875963" y="7735890"/>
                </a:lnTo>
                <a:lnTo>
                  <a:pt x="0" y="77358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5332" r="0" b="-57728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5400000">
            <a:off x="7706019" y="-5721318"/>
            <a:ext cx="2875962" cy="16850157"/>
          </a:xfrm>
          <a:custGeom>
            <a:avLst/>
            <a:gdLst/>
            <a:ahLst/>
            <a:cxnLst/>
            <a:rect r="r" b="b" t="t" l="l"/>
            <a:pathLst>
              <a:path h="16850157" w="2875962">
                <a:moveTo>
                  <a:pt x="0" y="0"/>
                </a:moveTo>
                <a:lnTo>
                  <a:pt x="2875962" y="0"/>
                </a:lnTo>
                <a:lnTo>
                  <a:pt x="2875962" y="16850157"/>
                </a:lnTo>
                <a:lnTo>
                  <a:pt x="0" y="168501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219" t="0" r="-14219" b="-31531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718921" y="2038792"/>
            <a:ext cx="15937863" cy="6915592"/>
          </a:xfrm>
          <a:custGeom>
            <a:avLst/>
            <a:gdLst/>
            <a:ahLst/>
            <a:cxnLst/>
            <a:rect r="r" b="b" t="t" l="l"/>
            <a:pathLst>
              <a:path h="6915592" w="15937863">
                <a:moveTo>
                  <a:pt x="0" y="0"/>
                </a:moveTo>
                <a:lnTo>
                  <a:pt x="15937863" y="0"/>
                </a:lnTo>
                <a:lnTo>
                  <a:pt x="15937863" y="6915592"/>
                </a:lnTo>
                <a:lnTo>
                  <a:pt x="0" y="6915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6801" t="-102472" r="-15344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718921" y="2703761"/>
            <a:ext cx="12871761" cy="6297908"/>
          </a:xfrm>
          <a:custGeom>
            <a:avLst/>
            <a:gdLst/>
            <a:ahLst/>
            <a:cxnLst/>
            <a:rect r="r" b="b" t="t" l="l"/>
            <a:pathLst>
              <a:path h="6297908" w="12871761">
                <a:moveTo>
                  <a:pt x="0" y="0"/>
                </a:moveTo>
                <a:lnTo>
                  <a:pt x="12871761" y="0"/>
                </a:lnTo>
                <a:lnTo>
                  <a:pt x="12871761" y="6297908"/>
                </a:lnTo>
                <a:lnTo>
                  <a:pt x="0" y="62979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9468" t="-126023" r="-39459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9275495" y="2335436"/>
            <a:ext cx="7603850" cy="669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97"/>
              </a:lnSpc>
            </a:pPr>
            <a:r>
              <a:rPr lang="en-US" b="true" sz="3998">
                <a:solidFill>
                  <a:srgbClr val="3C6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PLA</a:t>
            </a:r>
            <a:r>
              <a:rPr lang="en-US" b="true" sz="3998">
                <a:solidFill>
                  <a:srgbClr val="3C6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NTA KNN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80510" y="3321713"/>
            <a:ext cx="6747532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sz="2499">
                <a:solidFill>
                  <a:srgbClr val="3C6182"/>
                </a:solidFill>
                <a:latin typeface="Open Sans"/>
                <a:ea typeface="Open Sans"/>
                <a:cs typeface="Open Sans"/>
                <a:sym typeface="Open Sans"/>
              </a:rPr>
              <a:t>O KNN realiza classificações com base na pr</a:t>
            </a:r>
            <a:r>
              <a:rPr lang="en-US" sz="2499">
                <a:solidFill>
                  <a:srgbClr val="3C6182"/>
                </a:solidFill>
                <a:latin typeface="Open Sans"/>
                <a:ea typeface="Open Sans"/>
                <a:cs typeface="Open Sans"/>
                <a:sym typeface="Open Sans"/>
              </a:rPr>
              <a:t>oximidade entre observações semelhantes presentes na base de treinamento.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9143" y="377695"/>
            <a:ext cx="17469715" cy="9512059"/>
            <a:chOff x="0" y="0"/>
            <a:chExt cx="4601077" cy="25052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077" cy="2505234"/>
            </a:xfrm>
            <a:custGeom>
              <a:avLst/>
              <a:gdLst/>
              <a:ahLst/>
              <a:cxnLst/>
              <a:rect r="r" b="b" t="t" l="l"/>
              <a:pathLst>
                <a:path h="2505234" w="4601077">
                  <a:moveTo>
                    <a:pt x="0" y="0"/>
                  </a:moveTo>
                  <a:lnTo>
                    <a:pt x="4601077" y="0"/>
                  </a:lnTo>
                  <a:lnTo>
                    <a:pt x="4601077" y="2505234"/>
                  </a:lnTo>
                  <a:lnTo>
                    <a:pt x="0" y="2505234"/>
                  </a:lnTo>
                  <a:close/>
                </a:path>
              </a:pathLst>
            </a:custGeom>
            <a:gradFill rotWithShape="true">
              <a:gsLst>
                <a:gs pos="0">
                  <a:srgbClr val="ECF3FF">
                    <a:alpha val="55000"/>
                  </a:srgbClr>
                </a:gs>
                <a:gs pos="100000">
                  <a:srgbClr val="D4E2EF">
                    <a:alpha val="55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01077" cy="25433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9143" y="377695"/>
            <a:ext cx="6040445" cy="9512059"/>
            <a:chOff x="0" y="0"/>
            <a:chExt cx="1590899" cy="25052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90899" cy="2505234"/>
            </a:xfrm>
            <a:custGeom>
              <a:avLst/>
              <a:gdLst/>
              <a:ahLst/>
              <a:cxnLst/>
              <a:rect r="r" b="b" t="t" l="l"/>
              <a:pathLst>
                <a:path h="2505234" w="1590899">
                  <a:moveTo>
                    <a:pt x="0" y="0"/>
                  </a:moveTo>
                  <a:lnTo>
                    <a:pt x="1590899" y="0"/>
                  </a:lnTo>
                  <a:lnTo>
                    <a:pt x="1590899" y="2505234"/>
                  </a:lnTo>
                  <a:lnTo>
                    <a:pt x="0" y="2505234"/>
                  </a:lnTo>
                  <a:close/>
                </a:path>
              </a:pathLst>
            </a:custGeom>
            <a:solidFill>
              <a:srgbClr val="E1859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90899" cy="25433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275495" y="3552683"/>
            <a:ext cx="1085615" cy="6337070"/>
          </a:xfrm>
          <a:custGeom>
            <a:avLst/>
            <a:gdLst/>
            <a:ahLst/>
            <a:cxnLst/>
            <a:rect r="r" b="b" t="t" l="l"/>
            <a:pathLst>
              <a:path h="6337070" w="1085615">
                <a:moveTo>
                  <a:pt x="0" y="0"/>
                </a:moveTo>
                <a:lnTo>
                  <a:pt x="1085615" y="0"/>
                </a:lnTo>
                <a:lnTo>
                  <a:pt x="1085615" y="6337070"/>
                </a:lnTo>
                <a:lnTo>
                  <a:pt x="0" y="63370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0308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562500" y="2053535"/>
            <a:ext cx="10321952" cy="7836219"/>
            <a:chOff x="0" y="0"/>
            <a:chExt cx="2718539" cy="20638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18539" cy="2063860"/>
            </a:xfrm>
            <a:custGeom>
              <a:avLst/>
              <a:gdLst/>
              <a:ahLst/>
              <a:cxnLst/>
              <a:rect r="r" b="b" t="t" l="l"/>
              <a:pathLst>
                <a:path h="2063860" w="2718539">
                  <a:moveTo>
                    <a:pt x="28502" y="0"/>
                  </a:moveTo>
                  <a:lnTo>
                    <a:pt x="2690037" y="0"/>
                  </a:lnTo>
                  <a:cubicBezTo>
                    <a:pt x="2705778" y="0"/>
                    <a:pt x="2718539" y="12761"/>
                    <a:pt x="2718539" y="28502"/>
                  </a:cubicBezTo>
                  <a:lnTo>
                    <a:pt x="2718539" y="2035358"/>
                  </a:lnTo>
                  <a:cubicBezTo>
                    <a:pt x="2718539" y="2051099"/>
                    <a:pt x="2705778" y="2063860"/>
                    <a:pt x="2690037" y="2063860"/>
                  </a:cubicBezTo>
                  <a:lnTo>
                    <a:pt x="28502" y="2063860"/>
                  </a:lnTo>
                  <a:cubicBezTo>
                    <a:pt x="12761" y="2063860"/>
                    <a:pt x="0" y="2051099"/>
                    <a:pt x="0" y="2035358"/>
                  </a:cubicBezTo>
                  <a:lnTo>
                    <a:pt x="0" y="28502"/>
                  </a:lnTo>
                  <a:cubicBezTo>
                    <a:pt x="0" y="12761"/>
                    <a:pt x="12761" y="0"/>
                    <a:pt x="2850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CF3FF">
                    <a:alpha val="100000"/>
                  </a:srgbClr>
                </a:gs>
                <a:gs pos="100000">
                  <a:srgbClr val="D4E2EF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718539" cy="2101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118941" y="393029"/>
            <a:ext cx="1909101" cy="328034"/>
            <a:chOff x="0" y="0"/>
            <a:chExt cx="2545468" cy="437379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437379" cy="437379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8593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702696" y="0"/>
              <a:ext cx="437379" cy="437379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3C6182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405393" y="0"/>
              <a:ext cx="437379" cy="437379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8AD3D8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2108089" y="0"/>
              <a:ext cx="437379" cy="437379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78A1C6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25" id="25"/>
          <p:cNvSpPr/>
          <p:nvPr/>
        </p:nvSpPr>
        <p:spPr>
          <a:xfrm flipH="false" flipV="false" rot="0">
            <a:off x="14693116" y="1265779"/>
            <a:ext cx="2875962" cy="7735889"/>
          </a:xfrm>
          <a:custGeom>
            <a:avLst/>
            <a:gdLst/>
            <a:ahLst/>
            <a:cxnLst/>
            <a:rect r="r" b="b" t="t" l="l"/>
            <a:pathLst>
              <a:path h="7735889" w="2875962">
                <a:moveTo>
                  <a:pt x="0" y="0"/>
                </a:moveTo>
                <a:lnTo>
                  <a:pt x="2875963" y="0"/>
                </a:lnTo>
                <a:lnTo>
                  <a:pt x="2875963" y="7735890"/>
                </a:lnTo>
                <a:lnTo>
                  <a:pt x="0" y="77358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5332" r="0" b="-57728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5400000">
            <a:off x="7706019" y="-5721318"/>
            <a:ext cx="2875962" cy="16850157"/>
          </a:xfrm>
          <a:custGeom>
            <a:avLst/>
            <a:gdLst/>
            <a:ahLst/>
            <a:cxnLst/>
            <a:rect r="r" b="b" t="t" l="l"/>
            <a:pathLst>
              <a:path h="16850157" w="2875962">
                <a:moveTo>
                  <a:pt x="0" y="0"/>
                </a:moveTo>
                <a:lnTo>
                  <a:pt x="2875962" y="0"/>
                </a:lnTo>
                <a:lnTo>
                  <a:pt x="2875962" y="16850157"/>
                </a:lnTo>
                <a:lnTo>
                  <a:pt x="0" y="168501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219" t="0" r="-14219" b="-31531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718921" y="2038792"/>
            <a:ext cx="15937863" cy="6915592"/>
          </a:xfrm>
          <a:custGeom>
            <a:avLst/>
            <a:gdLst/>
            <a:ahLst/>
            <a:cxnLst/>
            <a:rect r="r" b="b" t="t" l="l"/>
            <a:pathLst>
              <a:path h="6915592" w="15937863">
                <a:moveTo>
                  <a:pt x="0" y="0"/>
                </a:moveTo>
                <a:lnTo>
                  <a:pt x="15937863" y="0"/>
                </a:lnTo>
                <a:lnTo>
                  <a:pt x="15937863" y="6915592"/>
                </a:lnTo>
                <a:lnTo>
                  <a:pt x="0" y="6915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6801" t="-102472" r="-15344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718921" y="2505594"/>
            <a:ext cx="13508022" cy="6496074"/>
          </a:xfrm>
          <a:custGeom>
            <a:avLst/>
            <a:gdLst/>
            <a:ahLst/>
            <a:cxnLst/>
            <a:rect r="r" b="b" t="t" l="l"/>
            <a:pathLst>
              <a:path h="6496074" w="13508022">
                <a:moveTo>
                  <a:pt x="0" y="0"/>
                </a:moveTo>
                <a:lnTo>
                  <a:pt x="13508023" y="0"/>
                </a:lnTo>
                <a:lnTo>
                  <a:pt x="13508023" y="6496075"/>
                </a:lnTo>
                <a:lnTo>
                  <a:pt x="0" y="64960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3247" t="-94581" r="-28084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9114124" y="2335436"/>
            <a:ext cx="7913918" cy="669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97"/>
              </a:lnSpc>
            </a:pPr>
            <a:r>
              <a:rPr lang="en-US" b="true" sz="3998">
                <a:solidFill>
                  <a:srgbClr val="3C6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PLA</a:t>
            </a:r>
            <a:r>
              <a:rPr lang="en-US" b="true" sz="3998">
                <a:solidFill>
                  <a:srgbClr val="3C6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NTA REDE NEURAL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759452" y="3321713"/>
            <a:ext cx="7268590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sz="2499">
                <a:solidFill>
                  <a:srgbClr val="3C6182"/>
                </a:solidFill>
                <a:latin typeface="Open Sans"/>
                <a:ea typeface="Open Sans"/>
                <a:cs typeface="Open Sans"/>
                <a:sym typeface="Open Sans"/>
              </a:rPr>
              <a:t>A Rede Neural Artificial simula o funcionamento de neurôni</a:t>
            </a:r>
            <a:r>
              <a:rPr lang="en-US" sz="2499">
                <a:solidFill>
                  <a:srgbClr val="3C6182"/>
                </a:solidFill>
                <a:latin typeface="Open Sans"/>
                <a:ea typeface="Open Sans"/>
                <a:cs typeface="Open Sans"/>
                <a:sym typeface="Open Sans"/>
              </a:rPr>
              <a:t>os artificiais para identificar padrões complexos presentes nos dados.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9143" y="377695"/>
            <a:ext cx="8482139" cy="4602156"/>
            <a:chOff x="0" y="0"/>
            <a:chExt cx="2233979" cy="12120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33979" cy="1212091"/>
            </a:xfrm>
            <a:custGeom>
              <a:avLst/>
              <a:gdLst/>
              <a:ahLst/>
              <a:cxnLst/>
              <a:rect r="r" b="b" t="t" l="l"/>
              <a:pathLst>
                <a:path h="1212091" w="2233979">
                  <a:moveTo>
                    <a:pt x="0" y="0"/>
                  </a:moveTo>
                  <a:lnTo>
                    <a:pt x="2233979" y="0"/>
                  </a:lnTo>
                  <a:lnTo>
                    <a:pt x="2233979" y="1212091"/>
                  </a:lnTo>
                  <a:lnTo>
                    <a:pt x="0" y="1212091"/>
                  </a:lnTo>
                  <a:close/>
                </a:path>
              </a:pathLst>
            </a:custGeom>
            <a:gradFill rotWithShape="true">
              <a:gsLst>
                <a:gs pos="0">
                  <a:srgbClr val="ECF3FF">
                    <a:alpha val="55000"/>
                  </a:srgbClr>
                </a:gs>
                <a:gs pos="100000">
                  <a:srgbClr val="D4E2EF">
                    <a:alpha val="55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33979" cy="12501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9143" y="5284661"/>
            <a:ext cx="8482139" cy="4614868"/>
            <a:chOff x="0" y="0"/>
            <a:chExt cx="2233979" cy="12154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3979" cy="1215439"/>
            </a:xfrm>
            <a:custGeom>
              <a:avLst/>
              <a:gdLst/>
              <a:ahLst/>
              <a:cxnLst/>
              <a:rect r="r" b="b" t="t" l="l"/>
              <a:pathLst>
                <a:path h="1215439" w="2233979">
                  <a:moveTo>
                    <a:pt x="0" y="0"/>
                  </a:moveTo>
                  <a:lnTo>
                    <a:pt x="2233979" y="0"/>
                  </a:lnTo>
                  <a:lnTo>
                    <a:pt x="2233979" y="1215439"/>
                  </a:lnTo>
                  <a:lnTo>
                    <a:pt x="0" y="1215439"/>
                  </a:lnTo>
                  <a:close/>
                </a:path>
              </a:pathLst>
            </a:custGeom>
            <a:solidFill>
              <a:srgbClr val="8AD3D8">
                <a:alpha val="5490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33979" cy="1253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55789" y="5284661"/>
            <a:ext cx="8600140" cy="4614868"/>
            <a:chOff x="0" y="0"/>
            <a:chExt cx="2265058" cy="12154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5057" cy="1215439"/>
            </a:xfrm>
            <a:custGeom>
              <a:avLst/>
              <a:gdLst/>
              <a:ahLst/>
              <a:cxnLst/>
              <a:rect r="r" b="b" t="t" l="l"/>
              <a:pathLst>
                <a:path h="1215439" w="2265057">
                  <a:moveTo>
                    <a:pt x="0" y="0"/>
                  </a:moveTo>
                  <a:lnTo>
                    <a:pt x="2265057" y="0"/>
                  </a:lnTo>
                  <a:lnTo>
                    <a:pt x="2265057" y="1215439"/>
                  </a:lnTo>
                  <a:lnTo>
                    <a:pt x="0" y="1215439"/>
                  </a:lnTo>
                  <a:close/>
                </a:path>
              </a:pathLst>
            </a:custGeom>
            <a:solidFill>
              <a:srgbClr val="78A1C6">
                <a:alpha val="54902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65058" cy="1253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228981" y="942975"/>
            <a:ext cx="6030319" cy="1623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579"/>
              </a:lnSpc>
            </a:pPr>
            <a:r>
              <a:rPr lang="en-US" b="true" sz="4699" spc="-93">
                <a:solidFill>
                  <a:srgbClr val="3C6182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COMPARAÇÃO DOS </a:t>
            </a:r>
            <a:r>
              <a:rPr lang="en-US" b="true" sz="4699" spc="-93">
                <a:solidFill>
                  <a:srgbClr val="3C6182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RESULTADOS</a:t>
            </a:r>
          </a:p>
        </p:txBody>
      </p: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582903" y="690444"/>
          <a:ext cx="8869991" cy="5153493"/>
        </p:xfrm>
        <a:graphic>
          <a:graphicData uri="http://schemas.openxmlformats.org/drawingml/2006/table">
            <a:tbl>
              <a:tblPr/>
              <a:tblGrid>
                <a:gridCol w="2101389"/>
                <a:gridCol w="1619274"/>
                <a:gridCol w="1764816"/>
                <a:gridCol w="1566406"/>
                <a:gridCol w="1818106"/>
              </a:tblGrid>
              <a:tr h="6584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Modelo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859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Acurácia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859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Precisão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859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Recall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859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8593"/>
                    </a:solidFill>
                  </a:tcPr>
                </a:tc>
              </a:tr>
              <a:tr h="109740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Random Forest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859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0.70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0.25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1.00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0.40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2610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Rede Neural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859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0.70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0.25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1.00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0.40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9740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Decision Tree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859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0.60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0.20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1.00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0.33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70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KNN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859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0.50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0.17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1.00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0.29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70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SVM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859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0.20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0.11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1.00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0.20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Freeform 13" id="13"/>
          <p:cNvSpPr/>
          <p:nvPr/>
        </p:nvSpPr>
        <p:spPr>
          <a:xfrm flipH="false" flipV="false" rot="0">
            <a:off x="9144000" y="4212183"/>
            <a:ext cx="8414760" cy="5440749"/>
          </a:xfrm>
          <a:custGeom>
            <a:avLst/>
            <a:gdLst/>
            <a:ahLst/>
            <a:cxnLst/>
            <a:rect r="r" b="b" t="t" l="l"/>
            <a:pathLst>
              <a:path h="5440749" w="8414760">
                <a:moveTo>
                  <a:pt x="0" y="0"/>
                </a:moveTo>
                <a:lnTo>
                  <a:pt x="8414760" y="0"/>
                </a:lnTo>
                <a:lnTo>
                  <a:pt x="8414760" y="5440749"/>
                </a:lnTo>
                <a:lnTo>
                  <a:pt x="0" y="54407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9143" y="3839146"/>
            <a:ext cx="17469715" cy="6050608"/>
            <a:chOff x="0" y="0"/>
            <a:chExt cx="4601077" cy="1593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077" cy="1593576"/>
            </a:xfrm>
            <a:custGeom>
              <a:avLst/>
              <a:gdLst/>
              <a:ahLst/>
              <a:cxnLst/>
              <a:rect r="r" b="b" t="t" l="l"/>
              <a:pathLst>
                <a:path h="1593576" w="4601077">
                  <a:moveTo>
                    <a:pt x="0" y="0"/>
                  </a:moveTo>
                  <a:lnTo>
                    <a:pt x="4601077" y="0"/>
                  </a:lnTo>
                  <a:lnTo>
                    <a:pt x="4601077" y="1593576"/>
                  </a:lnTo>
                  <a:lnTo>
                    <a:pt x="0" y="1593576"/>
                  </a:lnTo>
                  <a:close/>
                </a:path>
              </a:pathLst>
            </a:custGeom>
            <a:gradFill rotWithShape="true">
              <a:gsLst>
                <a:gs pos="0">
                  <a:srgbClr val="ECF3FF">
                    <a:alpha val="55000"/>
                  </a:srgbClr>
                </a:gs>
                <a:gs pos="100000">
                  <a:srgbClr val="D4E2EF">
                    <a:alpha val="55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01077" cy="1631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56865" y="1592307"/>
            <a:ext cx="4719514" cy="580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7"/>
              </a:lnSpc>
            </a:pPr>
            <a:r>
              <a:rPr lang="en-US" b="true" sz="3398">
                <a:solidFill>
                  <a:srgbClr val="3C6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</a:t>
            </a:r>
            <a:r>
              <a:rPr lang="en-US" b="true" sz="3398">
                <a:solidFill>
                  <a:srgbClr val="3C6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NÁLISE CIENTÍFICA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5400000">
            <a:off x="12750190" y="-229189"/>
            <a:ext cx="589315" cy="8428906"/>
          </a:xfrm>
          <a:custGeom>
            <a:avLst/>
            <a:gdLst/>
            <a:ahLst/>
            <a:cxnLst/>
            <a:rect r="r" b="b" t="t" l="l"/>
            <a:pathLst>
              <a:path h="8428906" w="589315">
                <a:moveTo>
                  <a:pt x="0" y="0"/>
                </a:moveTo>
                <a:lnTo>
                  <a:pt x="589315" y="0"/>
                </a:lnTo>
                <a:lnTo>
                  <a:pt x="589315" y="8428905"/>
                </a:lnTo>
                <a:lnTo>
                  <a:pt x="0" y="8428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-391800" t="0" r="-72512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12750190" y="2557656"/>
            <a:ext cx="589315" cy="8428906"/>
          </a:xfrm>
          <a:custGeom>
            <a:avLst/>
            <a:gdLst/>
            <a:ahLst/>
            <a:cxnLst/>
            <a:rect r="r" b="b" t="t" l="l"/>
            <a:pathLst>
              <a:path h="8428906" w="589315">
                <a:moveTo>
                  <a:pt x="0" y="0"/>
                </a:moveTo>
                <a:lnTo>
                  <a:pt x="589315" y="0"/>
                </a:lnTo>
                <a:lnTo>
                  <a:pt x="589315" y="8428906"/>
                </a:lnTo>
                <a:lnTo>
                  <a:pt x="0" y="84289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-391800" t="0" r="-72512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12750190" y="5380643"/>
            <a:ext cx="589315" cy="8428906"/>
          </a:xfrm>
          <a:custGeom>
            <a:avLst/>
            <a:gdLst/>
            <a:ahLst/>
            <a:cxnLst/>
            <a:rect r="r" b="b" t="t" l="l"/>
            <a:pathLst>
              <a:path h="8428906" w="589315">
                <a:moveTo>
                  <a:pt x="0" y="0"/>
                </a:moveTo>
                <a:lnTo>
                  <a:pt x="589315" y="0"/>
                </a:lnTo>
                <a:lnTo>
                  <a:pt x="589315" y="8428905"/>
                </a:lnTo>
                <a:lnTo>
                  <a:pt x="0" y="8428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-391800" t="0" r="-72512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872735" y="4188945"/>
            <a:ext cx="8386565" cy="2301112"/>
            <a:chOff x="0" y="0"/>
            <a:chExt cx="2208807" cy="6060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08807" cy="606054"/>
            </a:xfrm>
            <a:custGeom>
              <a:avLst/>
              <a:gdLst/>
              <a:ahLst/>
              <a:cxnLst/>
              <a:rect r="r" b="b" t="t" l="l"/>
              <a:pathLst>
                <a:path h="606054" w="2208807">
                  <a:moveTo>
                    <a:pt x="19386" y="0"/>
                  </a:moveTo>
                  <a:lnTo>
                    <a:pt x="2189421" y="0"/>
                  </a:lnTo>
                  <a:cubicBezTo>
                    <a:pt x="2200128" y="0"/>
                    <a:pt x="2208807" y="8679"/>
                    <a:pt x="2208807" y="19386"/>
                  </a:cubicBezTo>
                  <a:lnTo>
                    <a:pt x="2208807" y="586668"/>
                  </a:lnTo>
                  <a:cubicBezTo>
                    <a:pt x="2208807" y="591810"/>
                    <a:pt x="2206765" y="596741"/>
                    <a:pt x="2203129" y="600376"/>
                  </a:cubicBezTo>
                  <a:cubicBezTo>
                    <a:pt x="2199493" y="604012"/>
                    <a:pt x="2194563" y="606054"/>
                    <a:pt x="2189421" y="606054"/>
                  </a:cubicBezTo>
                  <a:lnTo>
                    <a:pt x="19386" y="606054"/>
                  </a:lnTo>
                  <a:cubicBezTo>
                    <a:pt x="14244" y="606054"/>
                    <a:pt x="9314" y="604012"/>
                    <a:pt x="5678" y="600376"/>
                  </a:cubicBezTo>
                  <a:cubicBezTo>
                    <a:pt x="2042" y="596741"/>
                    <a:pt x="0" y="591810"/>
                    <a:pt x="0" y="586668"/>
                  </a:cubicBezTo>
                  <a:lnTo>
                    <a:pt x="0" y="19386"/>
                  </a:lnTo>
                  <a:cubicBezTo>
                    <a:pt x="0" y="14244"/>
                    <a:pt x="2042" y="9314"/>
                    <a:pt x="5678" y="5678"/>
                  </a:cubicBezTo>
                  <a:cubicBezTo>
                    <a:pt x="9314" y="2042"/>
                    <a:pt x="14244" y="0"/>
                    <a:pt x="19386" y="0"/>
                  </a:cubicBezTo>
                  <a:close/>
                </a:path>
              </a:pathLst>
            </a:custGeom>
            <a:solidFill>
              <a:srgbClr val="85A2C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208807" cy="6441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5400000">
            <a:off x="3882042" y="6283262"/>
            <a:ext cx="589315" cy="5950077"/>
          </a:xfrm>
          <a:custGeom>
            <a:avLst/>
            <a:gdLst/>
            <a:ahLst/>
            <a:cxnLst/>
            <a:rect r="r" b="b" t="t" l="l"/>
            <a:pathLst>
              <a:path h="5950077" w="589315">
                <a:moveTo>
                  <a:pt x="0" y="0"/>
                </a:moveTo>
                <a:lnTo>
                  <a:pt x="589315" y="0"/>
                </a:lnTo>
                <a:lnTo>
                  <a:pt x="589315" y="5950076"/>
                </a:lnTo>
                <a:lnTo>
                  <a:pt x="0" y="5950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-261873" t="0" r="-36483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28700" y="2339938"/>
            <a:ext cx="6295999" cy="6623704"/>
            <a:chOff x="0" y="0"/>
            <a:chExt cx="1658206" cy="174451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58206" cy="1744515"/>
            </a:xfrm>
            <a:custGeom>
              <a:avLst/>
              <a:gdLst/>
              <a:ahLst/>
              <a:cxnLst/>
              <a:rect r="r" b="b" t="t" l="l"/>
              <a:pathLst>
                <a:path h="1744515" w="1658206">
                  <a:moveTo>
                    <a:pt x="25823" y="0"/>
                  </a:moveTo>
                  <a:lnTo>
                    <a:pt x="1632383" y="0"/>
                  </a:lnTo>
                  <a:cubicBezTo>
                    <a:pt x="1646644" y="0"/>
                    <a:pt x="1658206" y="11561"/>
                    <a:pt x="1658206" y="25823"/>
                  </a:cubicBezTo>
                  <a:lnTo>
                    <a:pt x="1658206" y="1718692"/>
                  </a:lnTo>
                  <a:cubicBezTo>
                    <a:pt x="1658206" y="1732953"/>
                    <a:pt x="1646644" y="1744515"/>
                    <a:pt x="1632383" y="1744515"/>
                  </a:cubicBezTo>
                  <a:lnTo>
                    <a:pt x="25823" y="1744515"/>
                  </a:lnTo>
                  <a:cubicBezTo>
                    <a:pt x="11561" y="1744515"/>
                    <a:pt x="0" y="1732953"/>
                    <a:pt x="0" y="1718692"/>
                  </a:cubicBezTo>
                  <a:lnTo>
                    <a:pt x="0" y="25823"/>
                  </a:lnTo>
                  <a:cubicBezTo>
                    <a:pt x="0" y="11561"/>
                    <a:pt x="11561" y="0"/>
                    <a:pt x="25823" y="0"/>
                  </a:cubicBezTo>
                  <a:close/>
                </a:path>
              </a:pathLst>
            </a:custGeom>
            <a:solidFill>
              <a:srgbClr val="3C618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658206" cy="178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872735" y="1402100"/>
            <a:ext cx="8386565" cy="2301112"/>
            <a:chOff x="0" y="0"/>
            <a:chExt cx="2208807" cy="60605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08807" cy="606054"/>
            </a:xfrm>
            <a:custGeom>
              <a:avLst/>
              <a:gdLst/>
              <a:ahLst/>
              <a:cxnLst/>
              <a:rect r="r" b="b" t="t" l="l"/>
              <a:pathLst>
                <a:path h="606054" w="2208807">
                  <a:moveTo>
                    <a:pt x="19386" y="0"/>
                  </a:moveTo>
                  <a:lnTo>
                    <a:pt x="2189421" y="0"/>
                  </a:lnTo>
                  <a:cubicBezTo>
                    <a:pt x="2200128" y="0"/>
                    <a:pt x="2208807" y="8679"/>
                    <a:pt x="2208807" y="19386"/>
                  </a:cubicBezTo>
                  <a:lnTo>
                    <a:pt x="2208807" y="586668"/>
                  </a:lnTo>
                  <a:cubicBezTo>
                    <a:pt x="2208807" y="591810"/>
                    <a:pt x="2206765" y="596741"/>
                    <a:pt x="2203129" y="600376"/>
                  </a:cubicBezTo>
                  <a:cubicBezTo>
                    <a:pt x="2199493" y="604012"/>
                    <a:pt x="2194563" y="606054"/>
                    <a:pt x="2189421" y="606054"/>
                  </a:cubicBezTo>
                  <a:lnTo>
                    <a:pt x="19386" y="606054"/>
                  </a:lnTo>
                  <a:cubicBezTo>
                    <a:pt x="14244" y="606054"/>
                    <a:pt x="9314" y="604012"/>
                    <a:pt x="5678" y="600376"/>
                  </a:cubicBezTo>
                  <a:cubicBezTo>
                    <a:pt x="2042" y="596741"/>
                    <a:pt x="0" y="591810"/>
                    <a:pt x="0" y="586668"/>
                  </a:cubicBezTo>
                  <a:lnTo>
                    <a:pt x="0" y="19386"/>
                  </a:lnTo>
                  <a:cubicBezTo>
                    <a:pt x="0" y="14244"/>
                    <a:pt x="2042" y="9314"/>
                    <a:pt x="5678" y="5678"/>
                  </a:cubicBezTo>
                  <a:cubicBezTo>
                    <a:pt x="9314" y="2042"/>
                    <a:pt x="14244" y="0"/>
                    <a:pt x="19386" y="0"/>
                  </a:cubicBezTo>
                  <a:close/>
                </a:path>
              </a:pathLst>
            </a:custGeom>
            <a:solidFill>
              <a:srgbClr val="E1859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208807" cy="6441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5400000">
            <a:off x="10590037" y="6720405"/>
            <a:ext cx="589315" cy="3440017"/>
          </a:xfrm>
          <a:custGeom>
            <a:avLst/>
            <a:gdLst/>
            <a:ahLst/>
            <a:cxnLst/>
            <a:rect r="r" b="b" t="t" l="l"/>
            <a:pathLst>
              <a:path h="3440017" w="589315">
                <a:moveTo>
                  <a:pt x="0" y="0"/>
                </a:moveTo>
                <a:lnTo>
                  <a:pt x="589315" y="0"/>
                </a:lnTo>
                <a:lnTo>
                  <a:pt x="589315" y="3440017"/>
                </a:lnTo>
                <a:lnTo>
                  <a:pt x="0" y="34400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0308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5400000">
            <a:off x="14868001" y="6720405"/>
            <a:ext cx="589315" cy="3440017"/>
          </a:xfrm>
          <a:custGeom>
            <a:avLst/>
            <a:gdLst/>
            <a:ahLst/>
            <a:cxnLst/>
            <a:rect r="r" b="b" t="t" l="l"/>
            <a:pathLst>
              <a:path h="3440017" w="589315">
                <a:moveTo>
                  <a:pt x="0" y="0"/>
                </a:moveTo>
                <a:lnTo>
                  <a:pt x="589316" y="0"/>
                </a:lnTo>
                <a:lnTo>
                  <a:pt x="589316" y="3440017"/>
                </a:lnTo>
                <a:lnTo>
                  <a:pt x="0" y="34400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0308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893621" y="705143"/>
            <a:ext cx="6344794" cy="580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7"/>
              </a:lnSpc>
            </a:pPr>
            <a:r>
              <a:rPr lang="en-US" b="true" sz="3398">
                <a:solidFill>
                  <a:srgbClr val="3C6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VERED</a:t>
            </a:r>
            <a:r>
              <a:rPr lang="en-US" b="true" sz="3398">
                <a:solidFill>
                  <a:srgbClr val="3C6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ITO DO CONSULTOR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55896" y="2655860"/>
            <a:ext cx="5521452" cy="5934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Random F</a:t>
            </a: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orest e Rede Neural obtiv</a:t>
            </a: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eram os melhores resultados.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mbos atingiram 70% de acurácia.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F1-Score foi utilizado como principal métrica.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 SVM apresentou dificuldades para separar corretamente as classes.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 KNN sofreu influência da proximidade entre observações do mercado financeiro.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830394" y="7011932"/>
            <a:ext cx="8386565" cy="2301112"/>
            <a:chOff x="0" y="0"/>
            <a:chExt cx="2208807" cy="60605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08807" cy="606054"/>
            </a:xfrm>
            <a:custGeom>
              <a:avLst/>
              <a:gdLst/>
              <a:ahLst/>
              <a:cxnLst/>
              <a:rect r="r" b="b" t="t" l="l"/>
              <a:pathLst>
                <a:path h="606054" w="2208807">
                  <a:moveTo>
                    <a:pt x="19386" y="0"/>
                  </a:moveTo>
                  <a:lnTo>
                    <a:pt x="2189421" y="0"/>
                  </a:lnTo>
                  <a:cubicBezTo>
                    <a:pt x="2200128" y="0"/>
                    <a:pt x="2208807" y="8679"/>
                    <a:pt x="2208807" y="19386"/>
                  </a:cubicBezTo>
                  <a:lnTo>
                    <a:pt x="2208807" y="586668"/>
                  </a:lnTo>
                  <a:cubicBezTo>
                    <a:pt x="2208807" y="591810"/>
                    <a:pt x="2206765" y="596741"/>
                    <a:pt x="2203129" y="600376"/>
                  </a:cubicBezTo>
                  <a:cubicBezTo>
                    <a:pt x="2199493" y="604012"/>
                    <a:pt x="2194563" y="606054"/>
                    <a:pt x="2189421" y="606054"/>
                  </a:cubicBezTo>
                  <a:lnTo>
                    <a:pt x="19386" y="606054"/>
                  </a:lnTo>
                  <a:cubicBezTo>
                    <a:pt x="14244" y="606054"/>
                    <a:pt x="9314" y="604012"/>
                    <a:pt x="5678" y="600376"/>
                  </a:cubicBezTo>
                  <a:cubicBezTo>
                    <a:pt x="2042" y="596741"/>
                    <a:pt x="0" y="591810"/>
                    <a:pt x="0" y="586668"/>
                  </a:cubicBezTo>
                  <a:lnTo>
                    <a:pt x="0" y="19386"/>
                  </a:lnTo>
                  <a:cubicBezTo>
                    <a:pt x="0" y="14244"/>
                    <a:pt x="2042" y="9314"/>
                    <a:pt x="5678" y="5678"/>
                  </a:cubicBezTo>
                  <a:cubicBezTo>
                    <a:pt x="9314" y="2042"/>
                    <a:pt x="14244" y="0"/>
                    <a:pt x="19386" y="0"/>
                  </a:cubicBezTo>
                  <a:close/>
                </a:path>
              </a:pathLst>
            </a:custGeom>
            <a:solidFill>
              <a:srgbClr val="6FCAD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208807" cy="6441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212709" y="1601832"/>
            <a:ext cx="6967331" cy="181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Embora Random F</a:t>
            </a: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orest e Rede Neural t</a:t>
            </a: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enham apresentado resultados</a:t>
            </a: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equiva</a:t>
            </a: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lentes, recomenda-se a utilização do Random Forest em produção.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212709" y="4400971"/>
            <a:ext cx="5521452" cy="181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JUSTIFICATIVA TÉCNICA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Melh</a:t>
            </a: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or dese</a:t>
            </a: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mpenho geral.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aior es</a:t>
            </a: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tabilidade.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Menor custo computacional.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144000" y="7207226"/>
            <a:ext cx="7599752" cy="181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JUSTIFICATIVA ÉTICA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Mai</a:t>
            </a: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or trans</a:t>
            </a: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parência.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ossi</a:t>
            </a: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bilidade de explicar decisões ao cliente.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Menor efeito de caixa-preta.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EFF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9143" y="494753"/>
            <a:ext cx="17469715" cy="9318083"/>
            <a:chOff x="0" y="0"/>
            <a:chExt cx="4601077" cy="24541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077" cy="2454145"/>
            </a:xfrm>
            <a:custGeom>
              <a:avLst/>
              <a:gdLst/>
              <a:ahLst/>
              <a:cxnLst/>
              <a:rect r="r" b="b" t="t" l="l"/>
              <a:pathLst>
                <a:path h="2454145" w="4601077">
                  <a:moveTo>
                    <a:pt x="0" y="0"/>
                  </a:moveTo>
                  <a:lnTo>
                    <a:pt x="4601077" y="0"/>
                  </a:lnTo>
                  <a:lnTo>
                    <a:pt x="4601077" y="2454145"/>
                  </a:lnTo>
                  <a:lnTo>
                    <a:pt x="0" y="2454145"/>
                  </a:lnTo>
                  <a:close/>
                </a:path>
              </a:pathLst>
            </a:custGeom>
            <a:solidFill>
              <a:srgbClr val="3C618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01077" cy="24922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54782" y="2084151"/>
            <a:ext cx="9557174" cy="1029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47"/>
              </a:lnSpc>
            </a:pPr>
            <a:r>
              <a:rPr lang="en-US" b="true" sz="7521" spc="-150">
                <a:solidFill>
                  <a:srgbClr val="78A1C6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CONCLUSÃO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118941" y="1028700"/>
            <a:ext cx="328034" cy="32803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1859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645963" y="1028700"/>
            <a:ext cx="328034" cy="32803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EFFF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172986" y="1028700"/>
            <a:ext cx="328034" cy="32803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8AD3D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700008" y="1028700"/>
            <a:ext cx="328034" cy="32803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78A1C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108518" y="8867753"/>
            <a:ext cx="9150782" cy="390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22"/>
              </a:lnSpc>
            </a:pPr>
            <a:r>
              <a:rPr lang="en-US" sz="2498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grandesite.com.br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54782" y="3809763"/>
            <a:ext cx="16624076" cy="6003073"/>
            <a:chOff x="0" y="0"/>
            <a:chExt cx="4378357" cy="15810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378358" cy="1581056"/>
            </a:xfrm>
            <a:custGeom>
              <a:avLst/>
              <a:gdLst/>
              <a:ahLst/>
              <a:cxnLst/>
              <a:rect r="r" b="b" t="t" l="l"/>
              <a:pathLst>
                <a:path h="1581056" w="4378358">
                  <a:moveTo>
                    <a:pt x="0" y="0"/>
                  </a:moveTo>
                  <a:lnTo>
                    <a:pt x="4378358" y="0"/>
                  </a:lnTo>
                  <a:lnTo>
                    <a:pt x="4378358" y="1581056"/>
                  </a:lnTo>
                  <a:lnTo>
                    <a:pt x="0" y="1581056"/>
                  </a:lnTo>
                  <a:close/>
                </a:path>
              </a:pathLst>
            </a:custGeom>
            <a:gradFill rotWithShape="true">
              <a:gsLst>
                <a:gs pos="0">
                  <a:srgbClr val="ECF3FF">
                    <a:alpha val="100000"/>
                  </a:srgbClr>
                </a:gs>
                <a:gs pos="100000">
                  <a:srgbClr val="D4E2EF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4378357" cy="16191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825856" y="4747112"/>
            <a:ext cx="9976790" cy="2064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4"/>
              </a:lnSpc>
            </a:pPr>
            <a:r>
              <a:rPr lang="en-US" sz="2931">
                <a:solidFill>
                  <a:srgbClr val="3C6182"/>
                </a:solidFill>
                <a:latin typeface="Open Sans"/>
                <a:ea typeface="Open Sans"/>
                <a:cs typeface="Open Sans"/>
                <a:sym typeface="Open Sans"/>
              </a:rPr>
              <a:t>O estudo demo</a:t>
            </a:r>
            <a:r>
              <a:rPr lang="en-US" sz="2931">
                <a:solidFill>
                  <a:srgbClr val="3C6182"/>
                </a:solidFill>
                <a:latin typeface="Open Sans"/>
                <a:ea typeface="Open Sans"/>
                <a:cs typeface="Open Sans"/>
                <a:sym typeface="Open Sans"/>
              </a:rPr>
              <a:t>nstrou que o Random Forest apresentou o melhor equilíbrio entre desempenho preditivo, robustez e interpretabilidade para a previsão da direção diária das ações da IBM.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730826" y="8786056"/>
            <a:ext cx="9557174" cy="658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9"/>
              </a:lnSpc>
            </a:pPr>
            <a:r>
              <a:rPr lang="en-US" b="true" sz="4921" spc="-98">
                <a:solidFill>
                  <a:srgbClr val="78A1C6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OBRIGADA PELA ATENÇÃO!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DAHNJER9-3g</dc:identifier>
  <dcterms:modified xsi:type="dcterms:W3CDTF">2011-08-01T06:04:30Z</dcterms:modified>
  <cp:revision>1</cp:revision>
  <dc:title>pitch_cientifico_miriam_silva</dc:title>
</cp:coreProperties>
</file>